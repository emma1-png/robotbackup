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9" r:id="rId4"/>
    <p:sldId id="260" r:id="rId5"/>
    <p:sldId id="270" r:id="rId6"/>
    <p:sldId id="264" r:id="rId7"/>
    <p:sldId id="266" r:id="rId8"/>
    <p:sldId id="268" r:id="rId9"/>
    <p:sldId id="267" r:id="rId10"/>
    <p:sldId id="262"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74B8"/>
    <a:srgbClr val="FFD56D"/>
    <a:srgbClr val="B404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5" autoAdjust="0"/>
    <p:restoredTop sz="94660"/>
  </p:normalViewPr>
  <p:slideViewPr>
    <p:cSldViewPr snapToGrid="0">
      <p:cViewPr>
        <p:scale>
          <a:sx n="100" d="100"/>
          <a:sy n="100" d="100"/>
        </p:scale>
        <p:origin x="876" y="31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16:16:10.333"/>
    </inkml:context>
    <inkml:brush xml:id="br0">
      <inkml:brushProperty name="width" value="0.025" units="cm"/>
      <inkml:brushProperty name="height" value="0.025" units="cm"/>
    </inkml:brush>
  </inkml:definitions>
  <inkml:trace contextRef="#ctx0" brushRef="#br0">1 0 4082,'31'143'0,"-21"-4"0,-25 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DECE2-32C3-4D3B-9A7D-94DAB650BFF3}" type="datetimeFigureOut">
              <a:rPr lang="en-GB" smtClean="0"/>
              <a:t>23/03/2026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0BA6AD-98F4-42F4-BEEA-FCAA5B80DB85}" type="slidenum">
              <a:rPr lang="en-GB" smtClean="0"/>
              <a:t>‹#›</a:t>
            </a:fld>
            <a:endParaRPr lang="en-GB"/>
          </a:p>
        </p:txBody>
      </p:sp>
    </p:spTree>
    <p:extLst>
      <p:ext uri="{BB962C8B-B14F-4D97-AF65-F5344CB8AC3E}">
        <p14:creationId xmlns:p14="http://schemas.microsoft.com/office/powerpoint/2010/main" val="4026556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0BA6AD-98F4-42F4-BEEA-FCAA5B80DB85}" type="slidenum">
              <a:rPr lang="en-GB" smtClean="0"/>
              <a:t>2</a:t>
            </a:fld>
            <a:endParaRPr lang="en-GB"/>
          </a:p>
        </p:txBody>
      </p:sp>
    </p:spTree>
    <p:extLst>
      <p:ext uri="{BB962C8B-B14F-4D97-AF65-F5344CB8AC3E}">
        <p14:creationId xmlns:p14="http://schemas.microsoft.com/office/powerpoint/2010/main" val="37225978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0BA6AD-98F4-42F4-BEEA-FCAA5B80DB85}" type="slidenum">
              <a:rPr lang="en-GB" smtClean="0"/>
              <a:t>7</a:t>
            </a:fld>
            <a:endParaRPr lang="en-GB"/>
          </a:p>
        </p:txBody>
      </p:sp>
    </p:spTree>
    <p:extLst>
      <p:ext uri="{BB962C8B-B14F-4D97-AF65-F5344CB8AC3E}">
        <p14:creationId xmlns:p14="http://schemas.microsoft.com/office/powerpoint/2010/main" val="2968085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80394-4C26-47C2-AB6B-E3DCF8DF00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F118AA4-1AF3-4D8C-AEE0-E837E48E29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22EB9C1-E81F-49BC-9E10-A05ED201CB63}"/>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5" name="Footer Placeholder 4">
            <a:extLst>
              <a:ext uri="{FF2B5EF4-FFF2-40B4-BE49-F238E27FC236}">
                <a16:creationId xmlns:a16="http://schemas.microsoft.com/office/drawing/2014/main" id="{250707A4-FC2D-4BEE-93C2-455B3AC0D89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49F378-168A-4532-9618-757ADE157E18}"/>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1596759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D023F-6383-4604-9336-17BD34B06F7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B28105-4036-497C-8343-2B41DA66BA5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17D7B58-A851-4099-904F-8C84D20DB2EA}"/>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5" name="Footer Placeholder 4">
            <a:extLst>
              <a:ext uri="{FF2B5EF4-FFF2-40B4-BE49-F238E27FC236}">
                <a16:creationId xmlns:a16="http://schemas.microsoft.com/office/drawing/2014/main" id="{12E2A06A-6CAC-4EA0-A4A1-76599A9888B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5153502-ACA0-44FC-9FC4-E2F6C8EA9EC4}"/>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2729939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24C32-17F5-460C-813E-543D9BD8A3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DE79FC6-387B-4030-8B18-9CDF50FC69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8073768-5992-4EA8-A380-6F6262B4FFDF}"/>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5" name="Footer Placeholder 4">
            <a:extLst>
              <a:ext uri="{FF2B5EF4-FFF2-40B4-BE49-F238E27FC236}">
                <a16:creationId xmlns:a16="http://schemas.microsoft.com/office/drawing/2014/main" id="{6BE186A8-2E35-4676-9414-3E7AE59C35E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93499F9-B9D5-4F9E-8021-7ADE927A05F1}"/>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4078607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0E08D-1AED-4A04-8D90-4DC01B0EE98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344D25-E88B-4875-A110-223D18D0AEC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C75BD4E-CC22-4C9A-8F5D-ABC08A9AD30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E2FA6F1-ACBE-4B1E-AA63-A424DF980A35}"/>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6" name="Footer Placeholder 5">
            <a:extLst>
              <a:ext uri="{FF2B5EF4-FFF2-40B4-BE49-F238E27FC236}">
                <a16:creationId xmlns:a16="http://schemas.microsoft.com/office/drawing/2014/main" id="{C5D323F0-5EF1-4CB3-B885-4899CCBA680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8AA6203-B150-4A7B-B9EF-81D120EC6A57}"/>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2359688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BCFE1-14F6-4CB9-A6BD-52767EEAB33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8971D88-51AB-4FA1-8C30-EE6B0040E6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37455BE-3963-45B4-9A0E-D3AE4D13B24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05BF60C-F3C8-4C5B-B6A5-AA7A1BFF98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B3EED6B-D8BC-4C92-ACE0-8F2D323BCBF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92D9BBE-0E4D-4F0F-A9EC-0225366D148F}"/>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8" name="Footer Placeholder 7">
            <a:extLst>
              <a:ext uri="{FF2B5EF4-FFF2-40B4-BE49-F238E27FC236}">
                <a16:creationId xmlns:a16="http://schemas.microsoft.com/office/drawing/2014/main" id="{96B62181-8408-4D65-8E52-D9C0AEEEB47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966F774-7FF8-4DFD-A724-385F528E6BC3}"/>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4175535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48A25-EA7E-427F-ABDA-2F1690BD39E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B0211FB-942F-4D93-AACF-D0E827BAC437}"/>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4" name="Footer Placeholder 3">
            <a:extLst>
              <a:ext uri="{FF2B5EF4-FFF2-40B4-BE49-F238E27FC236}">
                <a16:creationId xmlns:a16="http://schemas.microsoft.com/office/drawing/2014/main" id="{DECF87F6-31F9-4D0F-A2EF-81561A3989D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ED4ED76-5492-47F0-9F69-D80BB5636ED1}"/>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2573057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CCA1F4-38CC-4A98-9B5E-17B9622A160C}"/>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3" name="Footer Placeholder 2">
            <a:extLst>
              <a:ext uri="{FF2B5EF4-FFF2-40B4-BE49-F238E27FC236}">
                <a16:creationId xmlns:a16="http://schemas.microsoft.com/office/drawing/2014/main" id="{B0BD2D5E-020F-4A5A-91AF-CD38F409953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3170C28-A7D5-487B-B3DA-901D82543DA3}"/>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1678794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3AD87-9254-41DD-AADD-173BF3C3C3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A92380E-6076-40D0-8754-E3E27ECFF0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10604D3-ACB2-4D33-BC57-949B759F48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8CB57EF-B6CD-4B28-B2F1-33DD289F44E5}"/>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6" name="Footer Placeholder 5">
            <a:extLst>
              <a:ext uri="{FF2B5EF4-FFF2-40B4-BE49-F238E27FC236}">
                <a16:creationId xmlns:a16="http://schemas.microsoft.com/office/drawing/2014/main" id="{1A805881-229E-4FE3-806B-84BAC1E7574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BDA184E-CFE7-4F40-BF66-96BA81F477B4}"/>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375480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AF9B6-7F60-426A-BCF0-1269B32CC5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28331CB-3CD3-41C4-9671-73474989A0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8770FCD-5794-415B-B7BF-9F6C6F404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7F1ADA5-22AF-4F91-9084-8FDEF81E84BF}"/>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6" name="Footer Placeholder 5">
            <a:extLst>
              <a:ext uri="{FF2B5EF4-FFF2-40B4-BE49-F238E27FC236}">
                <a16:creationId xmlns:a16="http://schemas.microsoft.com/office/drawing/2014/main" id="{A81EAF15-C71E-4395-9386-7509F021B37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6DE3308-1084-4FEF-9D96-2F2BA80A008F}"/>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1416472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1811D-9C35-426A-8DD3-8F7E861D962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7ACACFE-0E19-4467-AB6B-72BA1FD04D5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8E05A31-CB99-4182-AC2F-8F04D4C411C5}"/>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5" name="Footer Placeholder 4">
            <a:extLst>
              <a:ext uri="{FF2B5EF4-FFF2-40B4-BE49-F238E27FC236}">
                <a16:creationId xmlns:a16="http://schemas.microsoft.com/office/drawing/2014/main" id="{129195EE-15BF-4F36-99A3-F756E39FC1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AA94E6C-D826-437D-929C-91F9924B8841}"/>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346296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320100-767F-49EE-A10C-5B72DFC35E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8FF850-52FF-4A70-9D82-0A8C4B7C555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59C665-E1EB-4DE4-B947-41C89F6A5103}"/>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5" name="Footer Placeholder 4">
            <a:extLst>
              <a:ext uri="{FF2B5EF4-FFF2-40B4-BE49-F238E27FC236}">
                <a16:creationId xmlns:a16="http://schemas.microsoft.com/office/drawing/2014/main" id="{037DC016-D6AD-408A-840A-F87375BE7B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4E56F9C-390D-471B-BF89-031AE3AD34FD}"/>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1733769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211260-B8B1-496E-9B3A-6919328077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6302254-A002-49B1-9072-1A7B54D4CD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36EC65A-1019-44B8-8A32-7F5B8CACE6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40E8B5-3F65-4593-AF3B-73255D056693}" type="datetimeFigureOut">
              <a:rPr lang="en-GB" smtClean="0"/>
              <a:t>23/03/2026</a:t>
            </a:fld>
            <a:endParaRPr lang="en-GB"/>
          </a:p>
        </p:txBody>
      </p:sp>
      <p:sp>
        <p:nvSpPr>
          <p:cNvPr id="5" name="Footer Placeholder 4">
            <a:extLst>
              <a:ext uri="{FF2B5EF4-FFF2-40B4-BE49-F238E27FC236}">
                <a16:creationId xmlns:a16="http://schemas.microsoft.com/office/drawing/2014/main" id="{5FA057D8-E7BF-4BEE-A208-27478C93B4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AD1D5C4-78E3-470F-8F81-AFBEA75826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039E30-608A-4070-A9E8-FAE4479E990A}" type="slidenum">
              <a:rPr lang="en-GB" smtClean="0"/>
              <a:t>‹#›</a:t>
            </a:fld>
            <a:endParaRPr lang="en-GB"/>
          </a:p>
        </p:txBody>
      </p:sp>
    </p:spTree>
    <p:extLst>
      <p:ext uri="{BB962C8B-B14F-4D97-AF65-F5344CB8AC3E}">
        <p14:creationId xmlns:p14="http://schemas.microsoft.com/office/powerpoint/2010/main" val="41456495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A35D-A9BF-4DF3-A908-BAB1A0C205E8}"/>
              </a:ext>
            </a:extLst>
          </p:cNvPr>
          <p:cNvSpPr>
            <a:spLocks noGrp="1"/>
          </p:cNvSpPr>
          <p:nvPr>
            <p:ph type="ctrTitle"/>
          </p:nvPr>
        </p:nvSpPr>
        <p:spPr>
          <a:xfrm>
            <a:off x="1785668" y="1122363"/>
            <a:ext cx="8514811" cy="2387600"/>
          </a:xfrm>
        </p:spPr>
        <p:txBody>
          <a:bodyPr>
            <a:normAutofit/>
          </a:bodyPr>
          <a:lstStyle/>
          <a:p>
            <a:r>
              <a:rPr lang="en-GB" b="1" u="sng" dirty="0">
                <a:solidFill>
                  <a:srgbClr val="FC74B8"/>
                </a:solidFill>
                <a:latin typeface="+mn-lt"/>
              </a:rPr>
              <a:t>HHS 2025-2026 Robotics Season DECODE</a:t>
            </a:r>
          </a:p>
        </p:txBody>
      </p:sp>
      <p:sp>
        <p:nvSpPr>
          <p:cNvPr id="3" name="Subtitle 2">
            <a:extLst>
              <a:ext uri="{FF2B5EF4-FFF2-40B4-BE49-F238E27FC236}">
                <a16:creationId xmlns:a16="http://schemas.microsoft.com/office/drawing/2014/main" id="{92D4B1E9-1622-45A5-8495-41935C20D80A}"/>
              </a:ext>
            </a:extLst>
          </p:cNvPr>
          <p:cNvSpPr>
            <a:spLocks noGrp="1"/>
          </p:cNvSpPr>
          <p:nvPr>
            <p:ph type="subTitle" idx="1"/>
          </p:nvPr>
        </p:nvSpPr>
        <p:spPr/>
        <p:txBody>
          <a:bodyPr>
            <a:normAutofit/>
          </a:bodyPr>
          <a:lstStyle/>
          <a:p>
            <a:r>
              <a:rPr lang="en-GB" dirty="0"/>
              <a:t>By Alistair Taylor (Emma), Miles Clarke, Lilly Salter, Flynn Lambley, Benjamin </a:t>
            </a:r>
            <a:r>
              <a:rPr lang="en-GB" dirty="0" err="1"/>
              <a:t>Hosé</a:t>
            </a:r>
            <a:r>
              <a:rPr lang="en-GB" dirty="0"/>
              <a:t>, Toby Parish, Jamie Dunn, Thomas Jones, Elijah Sutton</a:t>
            </a:r>
          </a:p>
        </p:txBody>
      </p:sp>
      <p:pic>
        <p:nvPicPr>
          <p:cNvPr id="1026" name="Picture 2" descr="FIRST Tech Challenge - YouTube">
            <a:extLst>
              <a:ext uri="{FF2B5EF4-FFF2-40B4-BE49-F238E27FC236}">
                <a16:creationId xmlns:a16="http://schemas.microsoft.com/office/drawing/2014/main" id="{5F313868-89A3-E250-3A3F-2C182F4279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31B1940-250C-00DD-3DB6-5138FF9C8F35}"/>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1028" name="Picture 4" descr="2025-2026 DECODE">
            <a:extLst>
              <a:ext uri="{FF2B5EF4-FFF2-40B4-BE49-F238E27FC236}">
                <a16:creationId xmlns:a16="http://schemas.microsoft.com/office/drawing/2014/main" id="{ECEE3BC6-2D3F-0381-3BA6-4B25573E4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00479" y="100698"/>
            <a:ext cx="1762125" cy="2590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Java custom software development">
            <a:extLst>
              <a:ext uri="{FF2B5EF4-FFF2-40B4-BE49-F238E27FC236}">
                <a16:creationId xmlns:a16="http://schemas.microsoft.com/office/drawing/2014/main" id="{0CF5A408-FDDE-1BC8-2288-95F504A6C1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50" y="4892674"/>
            <a:ext cx="2705100" cy="1685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3261121"/>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B37AE-BDDF-AB4A-46DD-DB5962858EAB}"/>
              </a:ext>
            </a:extLst>
          </p:cNvPr>
          <p:cNvSpPr>
            <a:spLocks noGrp="1"/>
          </p:cNvSpPr>
          <p:nvPr>
            <p:ph type="title"/>
          </p:nvPr>
        </p:nvSpPr>
        <p:spPr/>
        <p:txBody>
          <a:bodyPr/>
          <a:lstStyle/>
          <a:p>
            <a:pPr algn="ctr"/>
            <a:r>
              <a:rPr lang="en-GB" u="sng" dirty="0">
                <a:solidFill>
                  <a:srgbClr val="FC74B8"/>
                </a:solidFill>
              </a:rPr>
              <a:t>Holmfirth High Robotics - Background</a:t>
            </a:r>
          </a:p>
        </p:txBody>
      </p:sp>
      <p:sp>
        <p:nvSpPr>
          <p:cNvPr id="3" name="Content Placeholder 2">
            <a:extLst>
              <a:ext uri="{FF2B5EF4-FFF2-40B4-BE49-F238E27FC236}">
                <a16:creationId xmlns:a16="http://schemas.microsoft.com/office/drawing/2014/main" id="{BE9BD050-93A7-350D-3B4B-44F78A45E9E4}"/>
              </a:ext>
            </a:extLst>
          </p:cNvPr>
          <p:cNvSpPr>
            <a:spLocks noGrp="1"/>
          </p:cNvSpPr>
          <p:nvPr>
            <p:ph idx="1"/>
          </p:nvPr>
        </p:nvSpPr>
        <p:spPr>
          <a:xfrm>
            <a:off x="1019176" y="1766420"/>
            <a:ext cx="9510712" cy="4351338"/>
          </a:xfrm>
        </p:spPr>
        <p:txBody>
          <a:bodyPr>
            <a:normAutofit/>
          </a:bodyPr>
          <a:lstStyle/>
          <a:p>
            <a:pPr marL="0" indent="0">
              <a:buNone/>
            </a:pPr>
            <a:r>
              <a:rPr lang="en-GB" sz="2400" dirty="0"/>
              <a:t>The team has been in place since 2019 and successfully competed at York STEM centre, placing third in the regional competition. We have competed twice at the Midlands regional competition in 2022 and 2023 and currently compete in the Yorkshire regionals at Sheffield Hallam university.</a:t>
            </a:r>
          </a:p>
          <a:p>
            <a:pPr marL="0" indent="0">
              <a:buNone/>
            </a:pPr>
            <a:r>
              <a:rPr lang="en-GB" sz="2400" dirty="0"/>
              <a:t>Each year the team is made up of a number of students from year 7 to 11 with the majority of them in years 10 and 11. In 2025, we were able to enter two teams.</a:t>
            </a:r>
          </a:p>
        </p:txBody>
      </p:sp>
      <p:pic>
        <p:nvPicPr>
          <p:cNvPr id="4" name="Picture 2" descr="FIRST Tech Challenge - YouTube">
            <a:extLst>
              <a:ext uri="{FF2B5EF4-FFF2-40B4-BE49-F238E27FC236}">
                <a16:creationId xmlns:a16="http://schemas.microsoft.com/office/drawing/2014/main" id="{8783E3C9-34A0-ADEE-6AEC-68EA83B0BE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CE7B912-187F-ACBC-AC66-18AEFD9C3542}"/>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D2291A97-BE4A-0807-8110-EC6BD4CDC0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2666221"/>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31406-9FFD-F05C-88E5-817E097E7A7F}"/>
              </a:ext>
            </a:extLst>
          </p:cNvPr>
          <p:cNvSpPr>
            <a:spLocks noGrp="1"/>
          </p:cNvSpPr>
          <p:nvPr>
            <p:ph type="title"/>
          </p:nvPr>
        </p:nvSpPr>
        <p:spPr>
          <a:xfrm>
            <a:off x="1133769" y="1217043"/>
            <a:ext cx="8657212" cy="473076"/>
          </a:xfrm>
          <a:ln w="12700">
            <a:solidFill>
              <a:schemeClr val="tx1"/>
            </a:solidFill>
          </a:ln>
        </p:spPr>
        <p:txBody>
          <a:bodyPr>
            <a:normAutofit/>
          </a:bodyPr>
          <a:lstStyle/>
          <a:p>
            <a:r>
              <a:rPr lang="en-GB" sz="2400" dirty="0">
                <a:solidFill>
                  <a:srgbClr val="FC74B8"/>
                </a:solidFill>
              </a:rPr>
              <a:t>Alistair(Emma): Programmer</a:t>
            </a:r>
          </a:p>
        </p:txBody>
      </p:sp>
      <p:sp>
        <p:nvSpPr>
          <p:cNvPr id="3" name="Content Placeholder 2">
            <a:extLst>
              <a:ext uri="{FF2B5EF4-FFF2-40B4-BE49-F238E27FC236}">
                <a16:creationId xmlns:a16="http://schemas.microsoft.com/office/drawing/2014/main" id="{E73FC366-37D4-548B-CF2C-D006A486BF36}"/>
              </a:ext>
            </a:extLst>
          </p:cNvPr>
          <p:cNvSpPr>
            <a:spLocks noGrp="1"/>
          </p:cNvSpPr>
          <p:nvPr>
            <p:ph idx="1"/>
          </p:nvPr>
        </p:nvSpPr>
        <p:spPr>
          <a:xfrm>
            <a:off x="1131494" y="1690117"/>
            <a:ext cx="8659487" cy="923331"/>
          </a:xfrm>
          <a:ln>
            <a:solidFill>
              <a:schemeClr val="tx1"/>
            </a:solidFill>
          </a:ln>
        </p:spPr>
        <p:txBody>
          <a:bodyPr vert="horz" lIns="91440" tIns="45720" rIns="91440" bIns="45720" rtlCol="0" anchor="t">
            <a:normAutofit fontScale="25000" lnSpcReduction="20000"/>
          </a:bodyPr>
          <a:lstStyle/>
          <a:p>
            <a:pPr marL="0" indent="0">
              <a:lnSpc>
                <a:spcPct val="120000"/>
              </a:lnSpc>
              <a:spcBef>
                <a:spcPts val="0"/>
              </a:spcBef>
              <a:buNone/>
            </a:pPr>
            <a:r>
              <a:rPr lang="en-GB" sz="6400" dirty="0"/>
              <a:t>Brief: Upskilled programming language to java from blocks. Programmed omnidirectional motion. Programmed flywheel launcher and “artefact gate” servo. Programmed distance sensor and camera for autonomous period.</a:t>
            </a:r>
            <a:endParaRPr lang="en-GB" sz="6400" dirty="0">
              <a:ea typeface="Calibri"/>
              <a:cs typeface="Calibri"/>
            </a:endParaRPr>
          </a:p>
          <a:p>
            <a:pPr marL="0" indent="0">
              <a:buNone/>
            </a:pPr>
            <a:endParaRPr lang="en-GB" dirty="0"/>
          </a:p>
        </p:txBody>
      </p:sp>
      <p:pic>
        <p:nvPicPr>
          <p:cNvPr id="4" name="Picture 2" descr="FIRST Tech Challenge - YouTube">
            <a:extLst>
              <a:ext uri="{FF2B5EF4-FFF2-40B4-BE49-F238E27FC236}">
                <a16:creationId xmlns:a16="http://schemas.microsoft.com/office/drawing/2014/main" id="{5FA267BD-522A-8638-27F4-A94930B1B4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72320EF-6B02-43E7-380D-65EDC686F4E7}"/>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11BF5F9D-2E1C-90F0-9627-7DD2667601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E4826166-2DDF-4595-AD59-FC54C9BE3620}"/>
              </a:ext>
            </a:extLst>
          </p:cNvPr>
          <p:cNvSpPr txBox="1">
            <a:spLocks/>
          </p:cNvSpPr>
          <p:nvPr/>
        </p:nvSpPr>
        <p:spPr>
          <a:xfrm>
            <a:off x="1139527" y="2808789"/>
            <a:ext cx="8651454" cy="473076"/>
          </a:xfrm>
          <a:prstGeom prst="rect">
            <a:avLst/>
          </a:prstGeom>
          <a:ln w="127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solidFill>
                  <a:srgbClr val="FC74B8"/>
                </a:solidFill>
              </a:rPr>
              <a:t>Miles: Project Manager, Design</a:t>
            </a:r>
          </a:p>
        </p:txBody>
      </p:sp>
      <p:sp>
        <p:nvSpPr>
          <p:cNvPr id="8" name="Content Placeholder 2">
            <a:extLst>
              <a:ext uri="{FF2B5EF4-FFF2-40B4-BE49-F238E27FC236}">
                <a16:creationId xmlns:a16="http://schemas.microsoft.com/office/drawing/2014/main" id="{06E6A9C1-EAAB-EED2-7061-E13420863034}"/>
              </a:ext>
            </a:extLst>
          </p:cNvPr>
          <p:cNvSpPr txBox="1">
            <a:spLocks/>
          </p:cNvSpPr>
          <p:nvPr/>
        </p:nvSpPr>
        <p:spPr>
          <a:xfrm>
            <a:off x="1139527" y="3281866"/>
            <a:ext cx="8659487" cy="960359"/>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GB" sz="1600" dirty="0"/>
              <a:t>Brief: Program and design consultant responsible for ensuring that the group stays on task and there is always a cross pollination of ideas and gracious professionalism and drafting and producing our final engineering portfolio. Help to coordinate ideas and keep everybody focused.</a:t>
            </a:r>
          </a:p>
        </p:txBody>
      </p:sp>
      <p:sp>
        <p:nvSpPr>
          <p:cNvPr id="9" name="Title 1">
            <a:extLst>
              <a:ext uri="{FF2B5EF4-FFF2-40B4-BE49-F238E27FC236}">
                <a16:creationId xmlns:a16="http://schemas.microsoft.com/office/drawing/2014/main" id="{4EA1A899-9938-495C-7864-1C01FC91A95D}"/>
              </a:ext>
            </a:extLst>
          </p:cNvPr>
          <p:cNvSpPr txBox="1">
            <a:spLocks/>
          </p:cNvSpPr>
          <p:nvPr/>
        </p:nvSpPr>
        <p:spPr>
          <a:xfrm>
            <a:off x="1136651" y="4437567"/>
            <a:ext cx="8654330" cy="473076"/>
          </a:xfrm>
          <a:prstGeom prst="rect">
            <a:avLst/>
          </a:prstGeom>
          <a:ln w="127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solidFill>
                  <a:srgbClr val="FC74B8"/>
                </a:solidFill>
              </a:rPr>
              <a:t>Lilly: Design and Construction </a:t>
            </a:r>
          </a:p>
        </p:txBody>
      </p:sp>
      <p:sp>
        <p:nvSpPr>
          <p:cNvPr id="10" name="Content Placeholder 2">
            <a:extLst>
              <a:ext uri="{FF2B5EF4-FFF2-40B4-BE49-F238E27FC236}">
                <a16:creationId xmlns:a16="http://schemas.microsoft.com/office/drawing/2014/main" id="{5D20DD1B-25F5-84B7-5C39-BB03A6E2D97A}"/>
              </a:ext>
            </a:extLst>
          </p:cNvPr>
          <p:cNvSpPr txBox="1">
            <a:spLocks/>
          </p:cNvSpPr>
          <p:nvPr/>
        </p:nvSpPr>
        <p:spPr>
          <a:xfrm>
            <a:off x="1134376" y="4910642"/>
            <a:ext cx="8659487" cy="92333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GB" sz="1600" dirty="0"/>
              <a:t>Brief: Update drivetrain. Design and build scaffolding/support for flywheel launcher and ramp.</a:t>
            </a:r>
          </a:p>
        </p:txBody>
      </p:sp>
      <p:sp>
        <p:nvSpPr>
          <p:cNvPr id="14" name="TextBox 13">
            <a:extLst>
              <a:ext uri="{FF2B5EF4-FFF2-40B4-BE49-F238E27FC236}">
                <a16:creationId xmlns:a16="http://schemas.microsoft.com/office/drawing/2014/main" id="{774B23EF-D8E2-2F98-665A-B11D64108026}"/>
              </a:ext>
            </a:extLst>
          </p:cNvPr>
          <p:cNvSpPr txBox="1"/>
          <p:nvPr/>
        </p:nvSpPr>
        <p:spPr>
          <a:xfrm>
            <a:off x="1155940" y="100698"/>
            <a:ext cx="8738558" cy="769441"/>
          </a:xfrm>
          <a:prstGeom prst="rect">
            <a:avLst/>
          </a:prstGeom>
          <a:noFill/>
        </p:spPr>
        <p:txBody>
          <a:bodyPr wrap="square" rtlCol="0">
            <a:spAutoFit/>
          </a:bodyPr>
          <a:lstStyle/>
          <a:p>
            <a:pPr algn="ctr"/>
            <a:r>
              <a:rPr lang="en-GB" sz="4400" u="sng" dirty="0">
                <a:solidFill>
                  <a:srgbClr val="FC74B8"/>
                </a:solidFill>
              </a:rPr>
              <a:t>Meet the Team</a:t>
            </a:r>
          </a:p>
        </p:txBody>
      </p:sp>
    </p:spTree>
    <p:extLst>
      <p:ext uri="{BB962C8B-B14F-4D97-AF65-F5344CB8AC3E}">
        <p14:creationId xmlns:p14="http://schemas.microsoft.com/office/powerpoint/2010/main" val="3331861464"/>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1C16B-1A46-2D45-622A-3B27A9AF83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C1315C-B5BA-4FE2-43F4-826C027A5264}"/>
              </a:ext>
            </a:extLst>
          </p:cNvPr>
          <p:cNvSpPr>
            <a:spLocks noGrp="1"/>
          </p:cNvSpPr>
          <p:nvPr>
            <p:ph type="title"/>
          </p:nvPr>
        </p:nvSpPr>
        <p:spPr>
          <a:xfrm>
            <a:off x="1185528" y="1217043"/>
            <a:ext cx="8657212" cy="473076"/>
          </a:xfrm>
          <a:ln w="12700">
            <a:solidFill>
              <a:schemeClr val="tx1"/>
            </a:solidFill>
          </a:ln>
        </p:spPr>
        <p:txBody>
          <a:bodyPr>
            <a:normAutofit/>
          </a:bodyPr>
          <a:lstStyle/>
          <a:p>
            <a:r>
              <a:rPr lang="en-GB" sz="2400" dirty="0">
                <a:solidFill>
                  <a:srgbClr val="FC74B8"/>
                </a:solidFill>
              </a:rPr>
              <a:t>Elijah: Design and Construction</a:t>
            </a:r>
          </a:p>
        </p:txBody>
      </p:sp>
      <p:sp>
        <p:nvSpPr>
          <p:cNvPr id="3" name="Content Placeholder 2">
            <a:extLst>
              <a:ext uri="{FF2B5EF4-FFF2-40B4-BE49-F238E27FC236}">
                <a16:creationId xmlns:a16="http://schemas.microsoft.com/office/drawing/2014/main" id="{7A65F112-1679-252C-9D3B-18DB77F99247}"/>
              </a:ext>
            </a:extLst>
          </p:cNvPr>
          <p:cNvSpPr>
            <a:spLocks noGrp="1"/>
          </p:cNvSpPr>
          <p:nvPr>
            <p:ph idx="1"/>
          </p:nvPr>
        </p:nvSpPr>
        <p:spPr>
          <a:xfrm>
            <a:off x="1183253" y="1690118"/>
            <a:ext cx="8659487" cy="923330"/>
          </a:xfrm>
          <a:ln>
            <a:solidFill>
              <a:schemeClr val="tx1"/>
            </a:solidFill>
          </a:ln>
        </p:spPr>
        <p:txBody>
          <a:bodyPr>
            <a:normAutofit/>
          </a:bodyPr>
          <a:lstStyle/>
          <a:p>
            <a:pPr marL="0" indent="0">
              <a:lnSpc>
                <a:spcPct val="100000"/>
              </a:lnSpc>
              <a:spcBef>
                <a:spcPts val="0"/>
              </a:spcBef>
              <a:buNone/>
            </a:pPr>
            <a:r>
              <a:rPr lang="en-GB" sz="1600" dirty="0"/>
              <a:t>Brief: Update drivetrain. Design and build scaffolding/support for flywheel launcher and ramp.</a:t>
            </a:r>
          </a:p>
          <a:p>
            <a:pPr marL="0" indent="0">
              <a:buNone/>
            </a:pPr>
            <a:endParaRPr lang="en-GB" dirty="0"/>
          </a:p>
        </p:txBody>
      </p:sp>
      <p:pic>
        <p:nvPicPr>
          <p:cNvPr id="4" name="Picture 2" descr="FIRST Tech Challenge - YouTube">
            <a:extLst>
              <a:ext uri="{FF2B5EF4-FFF2-40B4-BE49-F238E27FC236}">
                <a16:creationId xmlns:a16="http://schemas.microsoft.com/office/drawing/2014/main" id="{8FC48A72-2B55-7702-D6F8-90E24081D2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454B1B4-FCF2-3A29-DA22-D48F88E8332A}"/>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10C3FFC2-9F05-2050-D678-E2E3A4E6E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F759985C-2601-3666-0261-ADFF5F509DBF}"/>
              </a:ext>
            </a:extLst>
          </p:cNvPr>
          <p:cNvSpPr txBox="1">
            <a:spLocks/>
          </p:cNvSpPr>
          <p:nvPr/>
        </p:nvSpPr>
        <p:spPr>
          <a:xfrm>
            <a:off x="1191286" y="2766921"/>
            <a:ext cx="8659487" cy="473076"/>
          </a:xfrm>
          <a:prstGeom prst="rect">
            <a:avLst/>
          </a:prstGeom>
          <a:ln w="127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solidFill>
                  <a:srgbClr val="FC74B8"/>
                </a:solidFill>
              </a:rPr>
              <a:t>Flynn: Output designer</a:t>
            </a:r>
          </a:p>
        </p:txBody>
      </p:sp>
      <p:sp>
        <p:nvSpPr>
          <p:cNvPr id="8" name="Content Placeholder 2">
            <a:extLst>
              <a:ext uri="{FF2B5EF4-FFF2-40B4-BE49-F238E27FC236}">
                <a16:creationId xmlns:a16="http://schemas.microsoft.com/office/drawing/2014/main" id="{EAF61058-92AC-8B84-E3F4-62CE0C648394}"/>
              </a:ext>
            </a:extLst>
          </p:cNvPr>
          <p:cNvSpPr txBox="1">
            <a:spLocks/>
          </p:cNvSpPr>
          <p:nvPr/>
        </p:nvSpPr>
        <p:spPr>
          <a:xfrm>
            <a:off x="1189011" y="3239996"/>
            <a:ext cx="8659487" cy="92333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GB" sz="1600" dirty="0"/>
              <a:t>Brief: Update drivetrain. Design and build scaffolding/support for flywheel launcher and ramp. Invented original idea of flywheel mechanism.</a:t>
            </a:r>
          </a:p>
        </p:txBody>
      </p:sp>
      <p:sp>
        <p:nvSpPr>
          <p:cNvPr id="9" name="Title 1">
            <a:extLst>
              <a:ext uri="{FF2B5EF4-FFF2-40B4-BE49-F238E27FC236}">
                <a16:creationId xmlns:a16="http://schemas.microsoft.com/office/drawing/2014/main" id="{83C01E3F-AB45-8F32-F067-A2EE04C67FBC}"/>
              </a:ext>
            </a:extLst>
          </p:cNvPr>
          <p:cNvSpPr txBox="1">
            <a:spLocks/>
          </p:cNvSpPr>
          <p:nvPr/>
        </p:nvSpPr>
        <p:spPr>
          <a:xfrm>
            <a:off x="1188410" y="4437567"/>
            <a:ext cx="8654330" cy="473076"/>
          </a:xfrm>
          <a:prstGeom prst="rect">
            <a:avLst/>
          </a:prstGeom>
          <a:ln w="127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solidFill>
                  <a:srgbClr val="FC74B8"/>
                </a:solidFill>
              </a:rPr>
              <a:t>Benjamin: Advisor and Support</a:t>
            </a:r>
          </a:p>
        </p:txBody>
      </p:sp>
      <p:sp>
        <p:nvSpPr>
          <p:cNvPr id="10" name="Content Placeholder 2">
            <a:extLst>
              <a:ext uri="{FF2B5EF4-FFF2-40B4-BE49-F238E27FC236}">
                <a16:creationId xmlns:a16="http://schemas.microsoft.com/office/drawing/2014/main" id="{8B443BC1-A25B-F792-6EE3-19002AF4BAFA}"/>
              </a:ext>
            </a:extLst>
          </p:cNvPr>
          <p:cNvSpPr txBox="1">
            <a:spLocks/>
          </p:cNvSpPr>
          <p:nvPr/>
        </p:nvSpPr>
        <p:spPr>
          <a:xfrm>
            <a:off x="1186135" y="4910642"/>
            <a:ext cx="8659487" cy="92333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GB" sz="1600" dirty="0"/>
              <a:t>Brief: Critically analyse design and construction. </a:t>
            </a:r>
          </a:p>
        </p:txBody>
      </p:sp>
      <p:sp>
        <p:nvSpPr>
          <p:cNvPr id="11" name="TextBox 10">
            <a:extLst>
              <a:ext uri="{FF2B5EF4-FFF2-40B4-BE49-F238E27FC236}">
                <a16:creationId xmlns:a16="http://schemas.microsoft.com/office/drawing/2014/main" id="{7F4ABB31-B050-D7E1-5ACF-413D28CE74C3}"/>
              </a:ext>
            </a:extLst>
          </p:cNvPr>
          <p:cNvSpPr txBox="1"/>
          <p:nvPr/>
        </p:nvSpPr>
        <p:spPr>
          <a:xfrm>
            <a:off x="1155940" y="100698"/>
            <a:ext cx="8738558" cy="769441"/>
          </a:xfrm>
          <a:prstGeom prst="rect">
            <a:avLst/>
          </a:prstGeom>
          <a:noFill/>
        </p:spPr>
        <p:txBody>
          <a:bodyPr wrap="square" rtlCol="0">
            <a:spAutoFit/>
          </a:bodyPr>
          <a:lstStyle/>
          <a:p>
            <a:pPr algn="ctr"/>
            <a:r>
              <a:rPr lang="en-GB" sz="4400" u="sng" dirty="0">
                <a:solidFill>
                  <a:srgbClr val="FC74B8"/>
                </a:solidFill>
              </a:rPr>
              <a:t>Meet the Team</a:t>
            </a:r>
          </a:p>
        </p:txBody>
      </p:sp>
    </p:spTree>
    <p:extLst>
      <p:ext uri="{BB962C8B-B14F-4D97-AF65-F5344CB8AC3E}">
        <p14:creationId xmlns:p14="http://schemas.microsoft.com/office/powerpoint/2010/main" val="34832658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09810-8F7B-17E3-0463-9E303A70EA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C61C5-6FFB-AE48-6BD0-DE49672D0BDE}"/>
              </a:ext>
            </a:extLst>
          </p:cNvPr>
          <p:cNvSpPr>
            <a:spLocks noGrp="1"/>
          </p:cNvSpPr>
          <p:nvPr>
            <p:ph type="title"/>
          </p:nvPr>
        </p:nvSpPr>
        <p:spPr>
          <a:xfrm>
            <a:off x="1235011" y="1063569"/>
            <a:ext cx="8659487" cy="626547"/>
          </a:xfrm>
          <a:ln w="12700">
            <a:solidFill>
              <a:schemeClr val="tx1"/>
            </a:solidFill>
          </a:ln>
        </p:spPr>
        <p:txBody>
          <a:bodyPr>
            <a:normAutofit/>
          </a:bodyPr>
          <a:lstStyle/>
          <a:p>
            <a:r>
              <a:rPr lang="en-GB" sz="2400" dirty="0">
                <a:solidFill>
                  <a:srgbClr val="FC74B8"/>
                </a:solidFill>
              </a:rPr>
              <a:t>Tom: Design and construction</a:t>
            </a:r>
          </a:p>
        </p:txBody>
      </p:sp>
      <p:sp>
        <p:nvSpPr>
          <p:cNvPr id="3" name="Content Placeholder 2">
            <a:extLst>
              <a:ext uri="{FF2B5EF4-FFF2-40B4-BE49-F238E27FC236}">
                <a16:creationId xmlns:a16="http://schemas.microsoft.com/office/drawing/2014/main" id="{9C981976-574E-E2BE-70FD-E1051109054F}"/>
              </a:ext>
            </a:extLst>
          </p:cNvPr>
          <p:cNvSpPr>
            <a:spLocks noGrp="1"/>
          </p:cNvSpPr>
          <p:nvPr>
            <p:ph idx="1"/>
          </p:nvPr>
        </p:nvSpPr>
        <p:spPr>
          <a:xfrm>
            <a:off x="1235011" y="1690118"/>
            <a:ext cx="8659487" cy="923330"/>
          </a:xfrm>
          <a:ln>
            <a:solidFill>
              <a:schemeClr val="tx1"/>
            </a:solidFill>
          </a:ln>
        </p:spPr>
        <p:txBody>
          <a:bodyPr>
            <a:normAutofit/>
          </a:bodyPr>
          <a:lstStyle/>
          <a:p>
            <a:pPr marL="0" indent="0">
              <a:lnSpc>
                <a:spcPct val="100000"/>
              </a:lnSpc>
              <a:spcBef>
                <a:spcPts val="0"/>
              </a:spcBef>
              <a:buNone/>
            </a:pPr>
            <a:r>
              <a:rPr lang="en-GB" sz="1600" dirty="0"/>
              <a:t>Brief: Update drivetrain. Design and build scaffolding/support for flywheel launcher and ramp.</a:t>
            </a:r>
          </a:p>
          <a:p>
            <a:pPr marL="0" indent="0">
              <a:buNone/>
            </a:pPr>
            <a:endParaRPr lang="en-GB" dirty="0"/>
          </a:p>
        </p:txBody>
      </p:sp>
      <p:pic>
        <p:nvPicPr>
          <p:cNvPr id="4" name="Picture 2" descr="FIRST Tech Challenge - YouTube">
            <a:extLst>
              <a:ext uri="{FF2B5EF4-FFF2-40B4-BE49-F238E27FC236}">
                <a16:creationId xmlns:a16="http://schemas.microsoft.com/office/drawing/2014/main" id="{9F32F64D-04F4-883E-2594-D2DFC22A2D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4526D6A-5E77-B3B9-4441-B8A703ADBFAE}"/>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8BEFDA15-7703-5682-A0C9-1E2B46216B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7429FB39-9CD0-C586-E45A-E8F6A720F12D}"/>
              </a:ext>
            </a:extLst>
          </p:cNvPr>
          <p:cNvSpPr txBox="1">
            <a:spLocks/>
          </p:cNvSpPr>
          <p:nvPr/>
        </p:nvSpPr>
        <p:spPr>
          <a:xfrm>
            <a:off x="1243044" y="2766921"/>
            <a:ext cx="8651454" cy="473076"/>
          </a:xfrm>
          <a:prstGeom prst="rect">
            <a:avLst/>
          </a:prstGeom>
          <a:ln w="127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solidFill>
                  <a:srgbClr val="FC74B8"/>
                </a:solidFill>
              </a:rPr>
              <a:t>Toby: Advisor/Support </a:t>
            </a:r>
          </a:p>
        </p:txBody>
      </p:sp>
      <p:sp>
        <p:nvSpPr>
          <p:cNvPr id="8" name="Content Placeholder 2">
            <a:extLst>
              <a:ext uri="{FF2B5EF4-FFF2-40B4-BE49-F238E27FC236}">
                <a16:creationId xmlns:a16="http://schemas.microsoft.com/office/drawing/2014/main" id="{4FFE352A-843F-FDBC-7D53-50CBFC87E22B}"/>
              </a:ext>
            </a:extLst>
          </p:cNvPr>
          <p:cNvSpPr txBox="1">
            <a:spLocks/>
          </p:cNvSpPr>
          <p:nvPr/>
        </p:nvSpPr>
        <p:spPr>
          <a:xfrm>
            <a:off x="1240769" y="3239996"/>
            <a:ext cx="8659487" cy="92333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GB" sz="1600" dirty="0"/>
              <a:t>Brief: Critically analyse design and construction.  </a:t>
            </a:r>
          </a:p>
          <a:p>
            <a:pPr marL="0" indent="0">
              <a:buNone/>
            </a:pPr>
            <a:endParaRPr lang="en-GB" sz="1800" dirty="0"/>
          </a:p>
        </p:txBody>
      </p:sp>
      <p:sp>
        <p:nvSpPr>
          <p:cNvPr id="9" name="Title 1">
            <a:extLst>
              <a:ext uri="{FF2B5EF4-FFF2-40B4-BE49-F238E27FC236}">
                <a16:creationId xmlns:a16="http://schemas.microsoft.com/office/drawing/2014/main" id="{B084F06A-2A77-6FDC-3514-E9F5F85739A9}"/>
              </a:ext>
            </a:extLst>
          </p:cNvPr>
          <p:cNvSpPr txBox="1">
            <a:spLocks/>
          </p:cNvSpPr>
          <p:nvPr/>
        </p:nvSpPr>
        <p:spPr>
          <a:xfrm>
            <a:off x="1240168" y="4437567"/>
            <a:ext cx="8654330" cy="473076"/>
          </a:xfrm>
          <a:prstGeom prst="rect">
            <a:avLst/>
          </a:prstGeom>
          <a:ln w="127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solidFill>
                  <a:srgbClr val="FC74B8"/>
                </a:solidFill>
              </a:rPr>
              <a:t>Jamie: General Assistance</a:t>
            </a:r>
          </a:p>
        </p:txBody>
      </p:sp>
      <p:sp>
        <p:nvSpPr>
          <p:cNvPr id="10" name="Content Placeholder 2">
            <a:extLst>
              <a:ext uri="{FF2B5EF4-FFF2-40B4-BE49-F238E27FC236}">
                <a16:creationId xmlns:a16="http://schemas.microsoft.com/office/drawing/2014/main" id="{B2AE9B22-52EC-5308-DCE1-2E4A4E561F76}"/>
              </a:ext>
            </a:extLst>
          </p:cNvPr>
          <p:cNvSpPr txBox="1">
            <a:spLocks/>
          </p:cNvSpPr>
          <p:nvPr/>
        </p:nvSpPr>
        <p:spPr>
          <a:xfrm>
            <a:off x="1237893" y="4910642"/>
            <a:ext cx="8659487" cy="92333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GB" sz="1600" dirty="0"/>
              <a:t>Brief: Help other team members with tasks to help the team work together</a:t>
            </a:r>
          </a:p>
          <a:p>
            <a:pPr marL="0" indent="0">
              <a:lnSpc>
                <a:spcPct val="100000"/>
              </a:lnSpc>
              <a:spcBef>
                <a:spcPts val="0"/>
              </a:spcBef>
              <a:buFont typeface="Arial" panose="020B0604020202020204" pitchFamily="34" charset="0"/>
              <a:buNone/>
            </a:pPr>
            <a:r>
              <a:rPr lang="en-GB" sz="1600" dirty="0"/>
              <a:t>Worked hard to organise team equipment and keep the space tidy</a:t>
            </a:r>
          </a:p>
        </p:txBody>
      </p:sp>
      <p:sp>
        <p:nvSpPr>
          <p:cNvPr id="11" name="TextBox 10">
            <a:extLst>
              <a:ext uri="{FF2B5EF4-FFF2-40B4-BE49-F238E27FC236}">
                <a16:creationId xmlns:a16="http://schemas.microsoft.com/office/drawing/2014/main" id="{DC497CEB-AFFC-178B-4BF8-90B099DF40DC}"/>
              </a:ext>
            </a:extLst>
          </p:cNvPr>
          <p:cNvSpPr txBox="1"/>
          <p:nvPr/>
        </p:nvSpPr>
        <p:spPr>
          <a:xfrm>
            <a:off x="1155940" y="100698"/>
            <a:ext cx="8738558" cy="769441"/>
          </a:xfrm>
          <a:prstGeom prst="rect">
            <a:avLst/>
          </a:prstGeom>
          <a:noFill/>
        </p:spPr>
        <p:txBody>
          <a:bodyPr wrap="square" rtlCol="0">
            <a:spAutoFit/>
          </a:bodyPr>
          <a:lstStyle/>
          <a:p>
            <a:pPr algn="ctr"/>
            <a:r>
              <a:rPr lang="en-GB" sz="4400" u="sng" dirty="0">
                <a:solidFill>
                  <a:srgbClr val="FC74B8"/>
                </a:solidFill>
              </a:rPr>
              <a:t>Meet the Team</a:t>
            </a:r>
          </a:p>
        </p:txBody>
      </p:sp>
    </p:spTree>
    <p:extLst>
      <p:ext uri="{BB962C8B-B14F-4D97-AF65-F5344CB8AC3E}">
        <p14:creationId xmlns:p14="http://schemas.microsoft.com/office/powerpoint/2010/main" val="3302463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B397B-9226-FD70-906F-A4258FF18D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A2AF8-6673-D163-0645-D6BECE070626}"/>
              </a:ext>
            </a:extLst>
          </p:cNvPr>
          <p:cNvSpPr>
            <a:spLocks noGrp="1"/>
          </p:cNvSpPr>
          <p:nvPr>
            <p:ph type="title"/>
          </p:nvPr>
        </p:nvSpPr>
        <p:spPr/>
        <p:txBody>
          <a:bodyPr/>
          <a:lstStyle/>
          <a:p>
            <a:pPr algn="ctr"/>
            <a:r>
              <a:rPr lang="en-GB" u="sng" dirty="0">
                <a:solidFill>
                  <a:srgbClr val="FC74B8"/>
                </a:solidFill>
              </a:rPr>
              <a:t>The Robot</a:t>
            </a:r>
          </a:p>
        </p:txBody>
      </p:sp>
      <p:sp>
        <p:nvSpPr>
          <p:cNvPr id="3" name="Content Placeholder 2">
            <a:extLst>
              <a:ext uri="{FF2B5EF4-FFF2-40B4-BE49-F238E27FC236}">
                <a16:creationId xmlns:a16="http://schemas.microsoft.com/office/drawing/2014/main" id="{3652CB8E-11F9-95A6-ECC8-27E36F4CEB45}"/>
              </a:ext>
            </a:extLst>
          </p:cNvPr>
          <p:cNvSpPr>
            <a:spLocks noGrp="1"/>
          </p:cNvSpPr>
          <p:nvPr>
            <p:ph idx="1"/>
          </p:nvPr>
        </p:nvSpPr>
        <p:spPr/>
        <p:txBody>
          <a:bodyPr>
            <a:normAutofit fontScale="92500" lnSpcReduction="10000"/>
          </a:bodyPr>
          <a:lstStyle/>
          <a:p>
            <a:pPr marL="0" indent="0">
              <a:buNone/>
            </a:pPr>
            <a:r>
              <a:rPr lang="en-GB" sz="2600" dirty="0"/>
              <a:t>Summary:</a:t>
            </a:r>
          </a:p>
          <a:p>
            <a:pPr marL="0" indent="0">
              <a:buNone/>
            </a:pPr>
            <a:r>
              <a:rPr lang="en-GB" sz="2600" dirty="0"/>
              <a:t>The robot is built up in four main parts: </a:t>
            </a:r>
          </a:p>
          <a:p>
            <a:pPr marL="514350" indent="-514350">
              <a:buAutoNum type="arabicPeriod"/>
            </a:pPr>
            <a:r>
              <a:rPr lang="en-GB" sz="2600" dirty="0"/>
              <a:t>Drivetrain </a:t>
            </a:r>
          </a:p>
          <a:p>
            <a:pPr marL="514350" indent="-514350">
              <a:buAutoNum type="arabicPeriod"/>
            </a:pPr>
            <a:r>
              <a:rPr lang="en-GB" sz="2600" dirty="0"/>
              <a:t>Artefact Launcher/Gate</a:t>
            </a:r>
          </a:p>
          <a:p>
            <a:pPr marL="514350" indent="-514350">
              <a:buAutoNum type="arabicPeriod"/>
            </a:pPr>
            <a:r>
              <a:rPr lang="en-GB" sz="2600" dirty="0"/>
              <a:t>Remote Sensing</a:t>
            </a:r>
          </a:p>
          <a:p>
            <a:pPr marL="514350" indent="-514350">
              <a:buAutoNum type="arabicPeriod" startAt="4"/>
            </a:pPr>
            <a:r>
              <a:rPr lang="en-GB" sz="2600" dirty="0"/>
              <a:t>Programming</a:t>
            </a:r>
          </a:p>
          <a:p>
            <a:pPr marL="514350" indent="-514350">
              <a:buAutoNum type="arabicPeriod" startAt="4"/>
            </a:pPr>
            <a:endParaRPr lang="en-GB" sz="2600" dirty="0"/>
          </a:p>
          <a:p>
            <a:pPr marL="0" indent="0">
              <a:buNone/>
            </a:pPr>
            <a:r>
              <a:rPr lang="en-GB" sz="2600" dirty="0"/>
              <a:t>We have worked on the drivetrain for a long time but designed the artefact launcher and gate mechanism, as well as their programming, specifically for this year. We have also introduced a new camera, which we have worked hard on to integrate it into the programming.</a:t>
            </a:r>
          </a:p>
          <a:p>
            <a:pPr marL="0" indent="0">
              <a:buNone/>
            </a:pPr>
            <a:endParaRPr lang="en-GB" dirty="0"/>
          </a:p>
          <a:p>
            <a:pPr marL="514350" indent="-514350">
              <a:buAutoNum type="arabicPeriod"/>
            </a:pPr>
            <a:endParaRPr lang="en-GB" dirty="0"/>
          </a:p>
        </p:txBody>
      </p:sp>
      <p:pic>
        <p:nvPicPr>
          <p:cNvPr id="4" name="Picture 2" descr="FIRST Tech Challenge - YouTube">
            <a:extLst>
              <a:ext uri="{FF2B5EF4-FFF2-40B4-BE49-F238E27FC236}">
                <a16:creationId xmlns:a16="http://schemas.microsoft.com/office/drawing/2014/main" id="{8451E8FC-0184-23F6-4621-CC22008A56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D0B9AD6-C09D-2BD8-B432-AB383E8D6549}"/>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9AB57DA6-0884-22F5-FE92-13C55D9486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0217387"/>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67396-4DAA-2C8E-3FC5-28B823579A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36008B-48F7-4DE5-132D-BB2C579A9B28}"/>
              </a:ext>
            </a:extLst>
          </p:cNvPr>
          <p:cNvSpPr>
            <a:spLocks noGrp="1"/>
          </p:cNvSpPr>
          <p:nvPr>
            <p:ph type="title"/>
          </p:nvPr>
        </p:nvSpPr>
        <p:spPr/>
        <p:txBody>
          <a:bodyPr/>
          <a:lstStyle/>
          <a:p>
            <a:pPr algn="ctr"/>
            <a:r>
              <a:rPr lang="en-GB" u="sng" dirty="0">
                <a:solidFill>
                  <a:srgbClr val="FC74B8"/>
                </a:solidFill>
              </a:rPr>
              <a:t>Drivetrain</a:t>
            </a:r>
          </a:p>
        </p:txBody>
      </p:sp>
      <p:sp>
        <p:nvSpPr>
          <p:cNvPr id="3" name="Content Placeholder 2">
            <a:extLst>
              <a:ext uri="{FF2B5EF4-FFF2-40B4-BE49-F238E27FC236}">
                <a16:creationId xmlns:a16="http://schemas.microsoft.com/office/drawing/2014/main" id="{DC736A06-5FE3-CA6C-944B-41DD3A04E0DF}"/>
              </a:ext>
            </a:extLst>
          </p:cNvPr>
          <p:cNvSpPr>
            <a:spLocks noGrp="1"/>
          </p:cNvSpPr>
          <p:nvPr>
            <p:ph idx="1"/>
          </p:nvPr>
        </p:nvSpPr>
        <p:spPr>
          <a:xfrm>
            <a:off x="838200" y="1586661"/>
            <a:ext cx="10515600" cy="2510886"/>
          </a:xfrm>
        </p:spPr>
        <p:txBody>
          <a:bodyPr>
            <a:normAutofit/>
          </a:bodyPr>
          <a:lstStyle/>
          <a:p>
            <a:pPr marL="0" indent="0">
              <a:buNone/>
            </a:pPr>
            <a:r>
              <a:rPr lang="en-GB" sz="2400" dirty="0"/>
              <a:t>Our current drivetrain is two years old. Initially made from extruded aluminium t slots, we were able to get a grant from our Parent Teacher Association to buy a number of c channels, planetary motors and omnidirectional wheels. The current drivetrain is built around the design of the Meccanum drivetrain kit with 90-degree boxes enabling the motors to sit inside the c channels for a more compact design. </a:t>
            </a:r>
          </a:p>
        </p:txBody>
      </p:sp>
      <p:pic>
        <p:nvPicPr>
          <p:cNvPr id="4" name="Picture 2" descr="FIRST Tech Challenge - YouTube">
            <a:extLst>
              <a:ext uri="{FF2B5EF4-FFF2-40B4-BE49-F238E27FC236}">
                <a16:creationId xmlns:a16="http://schemas.microsoft.com/office/drawing/2014/main" id="{48738B4A-6CA0-5E63-B464-BAD35D92F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A37DBEC-3531-DF35-3691-F76A55FA317A}"/>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0F985D40-FC8A-A7DF-D92E-45B58E204A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037699A-B6B7-2F28-C61B-4AA95498CA17}"/>
              </a:ext>
            </a:extLst>
          </p:cNvPr>
          <p:cNvPicPr>
            <a:picLocks noChangeAspect="1"/>
          </p:cNvPicPr>
          <p:nvPr/>
        </p:nvPicPr>
        <p:blipFill>
          <a:blip r:embed="rId5"/>
          <a:stretch>
            <a:fillRect/>
          </a:stretch>
        </p:blipFill>
        <p:spPr>
          <a:xfrm>
            <a:off x="648419" y="3918286"/>
            <a:ext cx="4510177" cy="2706106"/>
          </a:xfrm>
          <a:prstGeom prst="rect">
            <a:avLst/>
          </a:prstGeom>
        </p:spPr>
      </p:pic>
    </p:spTree>
    <p:extLst>
      <p:ext uri="{BB962C8B-B14F-4D97-AF65-F5344CB8AC3E}">
        <p14:creationId xmlns:p14="http://schemas.microsoft.com/office/powerpoint/2010/main" val="4090670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E87C9-C27C-BD16-8642-FEDC54518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74A356-518D-8497-610C-4A6AEF01E83B}"/>
              </a:ext>
            </a:extLst>
          </p:cNvPr>
          <p:cNvSpPr>
            <a:spLocks noGrp="1"/>
          </p:cNvSpPr>
          <p:nvPr>
            <p:ph type="title"/>
          </p:nvPr>
        </p:nvSpPr>
        <p:spPr/>
        <p:txBody>
          <a:bodyPr/>
          <a:lstStyle/>
          <a:p>
            <a:pPr algn="ctr"/>
            <a:r>
              <a:rPr lang="en-GB" u="sng" dirty="0">
                <a:solidFill>
                  <a:srgbClr val="FC74B8"/>
                </a:solidFill>
              </a:rPr>
              <a:t>Drivetrain</a:t>
            </a:r>
          </a:p>
        </p:txBody>
      </p:sp>
      <p:sp>
        <p:nvSpPr>
          <p:cNvPr id="3" name="Content Placeholder 2">
            <a:extLst>
              <a:ext uri="{FF2B5EF4-FFF2-40B4-BE49-F238E27FC236}">
                <a16:creationId xmlns:a16="http://schemas.microsoft.com/office/drawing/2014/main" id="{2D7C418C-7CFB-5AEA-8208-350BAF7FB1C6}"/>
              </a:ext>
            </a:extLst>
          </p:cNvPr>
          <p:cNvSpPr>
            <a:spLocks noGrp="1"/>
          </p:cNvSpPr>
          <p:nvPr>
            <p:ph idx="1"/>
          </p:nvPr>
        </p:nvSpPr>
        <p:spPr>
          <a:xfrm>
            <a:off x="838200" y="1586661"/>
            <a:ext cx="10515600" cy="4430962"/>
          </a:xfrm>
        </p:spPr>
        <p:txBody>
          <a:bodyPr>
            <a:normAutofit/>
          </a:bodyPr>
          <a:lstStyle/>
          <a:p>
            <a:pPr marL="0" indent="0">
              <a:buNone/>
            </a:pPr>
            <a:r>
              <a:rPr lang="en-GB" sz="2400" dirty="0"/>
              <a:t>Improvements: </a:t>
            </a:r>
          </a:p>
          <a:p>
            <a:pPr marL="0" indent="0">
              <a:buNone/>
            </a:pPr>
            <a:r>
              <a:rPr lang="en-GB" sz="2400" dirty="0"/>
              <a:t>We now built the frame out of aluminium c channel and hex bars. This makes the frame stronger, lighter and smaller. This helps us by allowing our robot to be more agile, which is useful within the competition. This improves our robot by making it faster. These improvements make our robot more corrosion resistant, which is good for the environment because we won’t have to replace the channels as often. This shows our journey towards environmental conscience, which is very important within our local community.</a:t>
            </a:r>
          </a:p>
        </p:txBody>
      </p:sp>
      <p:pic>
        <p:nvPicPr>
          <p:cNvPr id="4" name="Picture 2" descr="FIRST Tech Challenge - YouTube">
            <a:extLst>
              <a:ext uri="{FF2B5EF4-FFF2-40B4-BE49-F238E27FC236}">
                <a16:creationId xmlns:a16="http://schemas.microsoft.com/office/drawing/2014/main" id="{26788A8A-D422-C2E5-508E-D8F5DE3878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BBE106E-C7EA-C954-6DED-5ED15AD67F53}"/>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4BCF21A8-939A-D031-5C1E-29D97C5CCC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314343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30360-362D-F321-9B4D-A31C7D8693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7BDA38-284C-E2D7-61F3-B0B707418D37}"/>
              </a:ext>
            </a:extLst>
          </p:cNvPr>
          <p:cNvSpPr>
            <a:spLocks noGrp="1"/>
          </p:cNvSpPr>
          <p:nvPr>
            <p:ph type="title"/>
          </p:nvPr>
        </p:nvSpPr>
        <p:spPr>
          <a:xfrm>
            <a:off x="491707" y="365125"/>
            <a:ext cx="10862094" cy="1325563"/>
          </a:xfrm>
        </p:spPr>
        <p:txBody>
          <a:bodyPr/>
          <a:lstStyle/>
          <a:p>
            <a:pPr algn="ctr"/>
            <a:r>
              <a:rPr lang="en-GB" u="sng" dirty="0">
                <a:solidFill>
                  <a:srgbClr val="FC74B8"/>
                </a:solidFill>
              </a:rPr>
              <a:t>Artefact launcher</a:t>
            </a:r>
          </a:p>
        </p:txBody>
      </p:sp>
      <p:sp>
        <p:nvSpPr>
          <p:cNvPr id="3" name="Content Placeholder 2">
            <a:extLst>
              <a:ext uri="{FF2B5EF4-FFF2-40B4-BE49-F238E27FC236}">
                <a16:creationId xmlns:a16="http://schemas.microsoft.com/office/drawing/2014/main" id="{C73E8DF3-B666-EA4B-4D30-174D800ED174}"/>
              </a:ext>
            </a:extLst>
          </p:cNvPr>
          <p:cNvSpPr>
            <a:spLocks noGrp="1"/>
          </p:cNvSpPr>
          <p:nvPr>
            <p:ph idx="1"/>
          </p:nvPr>
        </p:nvSpPr>
        <p:spPr>
          <a:xfrm>
            <a:off x="419101" y="1373700"/>
            <a:ext cx="10398424" cy="4351338"/>
          </a:xfrm>
        </p:spPr>
        <p:txBody>
          <a:bodyPr>
            <a:normAutofit/>
          </a:bodyPr>
          <a:lstStyle/>
          <a:p>
            <a:pPr marL="0" indent="0">
              <a:buNone/>
            </a:pPr>
            <a:r>
              <a:rPr lang="en-GB" sz="2400" dirty="0"/>
              <a:t>Design and construction team – Tom Jones + Lilly Salter + Flynn Lambley + Miles Clarke</a:t>
            </a:r>
          </a:p>
          <a:p>
            <a:pPr marL="0" indent="0">
              <a:buNone/>
            </a:pPr>
            <a:r>
              <a:rPr lang="en-GB" sz="2400" dirty="0"/>
              <a:t>We considered a spring mechanism but decided to use a flywheel mechanism to propel the artefacts along the ramp and up out of the robot. This means we can fire multiple balls in quick succession, but we need some time to spin it up to full speed. It also means that the angle the balls exit the tube at is slightly unpredictable. We set the ramp at a specific angle so that the balls would come out at the right trajectory to hit the target. We also used a distance sensor so that the robot could automatically stop when it got close enough to the wall that the ball would go in. </a:t>
            </a:r>
          </a:p>
          <a:p>
            <a:pPr marL="0" indent="0">
              <a:buNone/>
            </a:pPr>
            <a:endParaRPr lang="en-GB" dirty="0"/>
          </a:p>
        </p:txBody>
      </p:sp>
      <p:pic>
        <p:nvPicPr>
          <p:cNvPr id="4" name="Picture 2" descr="FIRST Tech Challenge - YouTube">
            <a:extLst>
              <a:ext uri="{FF2B5EF4-FFF2-40B4-BE49-F238E27FC236}">
                <a16:creationId xmlns:a16="http://schemas.microsoft.com/office/drawing/2014/main" id="{21E35559-79C1-B19B-4366-417D51BF8D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2330064-E800-094A-007A-F04D6861506D}"/>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0ECD0E41-CE1E-F153-85A3-6360798D8A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263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EF19E-DC89-E85B-C421-C56610B8EE86}"/>
              </a:ext>
            </a:extLst>
          </p:cNvPr>
          <p:cNvSpPr>
            <a:spLocks noGrp="1"/>
          </p:cNvSpPr>
          <p:nvPr>
            <p:ph type="title"/>
          </p:nvPr>
        </p:nvSpPr>
        <p:spPr>
          <a:xfrm>
            <a:off x="324209" y="195393"/>
            <a:ext cx="11010899" cy="888431"/>
          </a:xfrm>
        </p:spPr>
        <p:txBody>
          <a:bodyPr>
            <a:normAutofit/>
          </a:bodyPr>
          <a:lstStyle/>
          <a:p>
            <a:pPr algn="ctr"/>
            <a:r>
              <a:rPr lang="en-GB" u="sng" dirty="0">
                <a:solidFill>
                  <a:srgbClr val="FC74B8"/>
                </a:solidFill>
              </a:rPr>
              <a:t>Programming - Drive</a:t>
            </a:r>
          </a:p>
        </p:txBody>
      </p:sp>
      <p:sp>
        <p:nvSpPr>
          <p:cNvPr id="3" name="Content Placeholder 2">
            <a:extLst>
              <a:ext uri="{FF2B5EF4-FFF2-40B4-BE49-F238E27FC236}">
                <a16:creationId xmlns:a16="http://schemas.microsoft.com/office/drawing/2014/main" id="{B94ECA7F-7A0F-7ACF-B78D-199F74BB42F5}"/>
              </a:ext>
            </a:extLst>
          </p:cNvPr>
          <p:cNvSpPr>
            <a:spLocks noGrp="1"/>
          </p:cNvSpPr>
          <p:nvPr>
            <p:ph idx="1"/>
          </p:nvPr>
        </p:nvSpPr>
        <p:spPr>
          <a:xfrm>
            <a:off x="6504318" y="1083824"/>
            <a:ext cx="4278701" cy="2589756"/>
          </a:xfrm>
        </p:spPr>
        <p:txBody>
          <a:bodyPr>
            <a:normAutofit fontScale="92500" lnSpcReduction="20000"/>
          </a:bodyPr>
          <a:lstStyle/>
          <a:p>
            <a:pPr marL="0" indent="0">
              <a:buNone/>
            </a:pPr>
            <a:r>
              <a:rPr lang="en-GB" sz="1800" dirty="0"/>
              <a:t>Our robot is split into two sections: the drive &amp; the launcher section.</a:t>
            </a:r>
          </a:p>
          <a:p>
            <a:pPr marL="0" indent="0">
              <a:buNone/>
            </a:pPr>
            <a:r>
              <a:rPr lang="en-GB" sz="1800" dirty="0"/>
              <a:t>First, the drive section: the code to the left is responsible for the driving of the omni directional robot. This allows the robot to move in all four directions as well as diagonally and pivot on the spot.</a:t>
            </a:r>
          </a:p>
          <a:p>
            <a:pPr marL="0" indent="0">
              <a:buNone/>
            </a:pPr>
            <a:r>
              <a:rPr lang="en-GB" sz="1800" dirty="0"/>
              <a:t>This next screenshot shows the code we use to stop the motors when we are too close to an object.</a:t>
            </a:r>
          </a:p>
          <a:p>
            <a:pPr marL="0" indent="0">
              <a:buNone/>
            </a:pPr>
            <a:r>
              <a:rPr lang="en-GB" sz="1800" dirty="0"/>
              <a:t>Confusingly, the Back Left motor is reversed. </a:t>
            </a:r>
          </a:p>
        </p:txBody>
      </p:sp>
      <p:sp>
        <p:nvSpPr>
          <p:cNvPr id="4" name="TextBox 3">
            <a:extLst>
              <a:ext uri="{FF2B5EF4-FFF2-40B4-BE49-F238E27FC236}">
                <a16:creationId xmlns:a16="http://schemas.microsoft.com/office/drawing/2014/main" id="{C503F719-3B29-3E97-8847-47862AC883FC}"/>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8" name="Picture 7">
            <a:extLst>
              <a:ext uri="{FF2B5EF4-FFF2-40B4-BE49-F238E27FC236}">
                <a16:creationId xmlns:a16="http://schemas.microsoft.com/office/drawing/2014/main" id="{AD133C69-2378-85F3-E85C-BCFB9613A129}"/>
              </a:ext>
            </a:extLst>
          </p:cNvPr>
          <p:cNvPicPr>
            <a:picLocks noChangeAspect="1"/>
          </p:cNvPicPr>
          <p:nvPr/>
        </p:nvPicPr>
        <p:blipFill>
          <a:blip r:embed="rId2"/>
          <a:stretch>
            <a:fillRect/>
          </a:stretch>
        </p:blipFill>
        <p:spPr>
          <a:xfrm>
            <a:off x="0" y="1083824"/>
            <a:ext cx="6477904" cy="4925112"/>
          </a:xfrm>
          <a:prstGeom prst="rect">
            <a:avLst/>
          </a:prstGeom>
        </p:spPr>
      </p:pic>
      <p:pic>
        <p:nvPicPr>
          <p:cNvPr id="9" name="Picture 4" descr="2025-2026 DECODE">
            <a:extLst>
              <a:ext uri="{FF2B5EF4-FFF2-40B4-BE49-F238E27FC236}">
                <a16:creationId xmlns:a16="http://schemas.microsoft.com/office/drawing/2014/main" id="{A25F3495-1A04-B8EA-FEBA-DB41EADAFF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FIRST Tech Challenge - YouTube">
            <a:extLst>
              <a:ext uri="{FF2B5EF4-FFF2-40B4-BE49-F238E27FC236}">
                <a16:creationId xmlns:a16="http://schemas.microsoft.com/office/drawing/2014/main" id="{6C2AF661-E633-8DEB-E712-C9F3C79D72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Get Rolling with Omni-Directional Wheels | Servo Magazine">
            <a:extLst>
              <a:ext uri="{FF2B5EF4-FFF2-40B4-BE49-F238E27FC236}">
                <a16:creationId xmlns:a16="http://schemas.microsoft.com/office/drawing/2014/main" id="{3FADB246-E2A2-0787-E200-3544C3FFCB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904" y="3673580"/>
            <a:ext cx="3485605" cy="2335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0378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04541-27E4-BD18-2B6D-8A2D195AE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7AF6DB-4F84-50DB-60B6-1C7CD11D58E6}"/>
              </a:ext>
            </a:extLst>
          </p:cNvPr>
          <p:cNvSpPr>
            <a:spLocks noGrp="1"/>
          </p:cNvSpPr>
          <p:nvPr>
            <p:ph type="title"/>
          </p:nvPr>
        </p:nvSpPr>
        <p:spPr>
          <a:xfrm>
            <a:off x="508959" y="362310"/>
            <a:ext cx="10644996" cy="849657"/>
          </a:xfrm>
        </p:spPr>
        <p:txBody>
          <a:bodyPr>
            <a:normAutofit/>
          </a:bodyPr>
          <a:lstStyle/>
          <a:p>
            <a:pPr algn="ctr"/>
            <a:r>
              <a:rPr lang="en-GB" u="sng" dirty="0">
                <a:solidFill>
                  <a:srgbClr val="FC74B8"/>
                </a:solidFill>
              </a:rPr>
              <a:t>Programming - Launcher</a:t>
            </a:r>
          </a:p>
        </p:txBody>
      </p:sp>
      <p:sp>
        <p:nvSpPr>
          <p:cNvPr id="3" name="Content Placeholder 2">
            <a:extLst>
              <a:ext uri="{FF2B5EF4-FFF2-40B4-BE49-F238E27FC236}">
                <a16:creationId xmlns:a16="http://schemas.microsoft.com/office/drawing/2014/main" id="{A12B3A1E-F306-4319-B38A-A1F8C5498CE0}"/>
              </a:ext>
            </a:extLst>
          </p:cNvPr>
          <p:cNvSpPr>
            <a:spLocks noGrp="1"/>
          </p:cNvSpPr>
          <p:nvPr>
            <p:ph idx="1"/>
          </p:nvPr>
        </p:nvSpPr>
        <p:spPr>
          <a:xfrm>
            <a:off x="7163823" y="1509862"/>
            <a:ext cx="4514435" cy="4324110"/>
          </a:xfrm>
        </p:spPr>
        <p:txBody>
          <a:bodyPr>
            <a:normAutofit lnSpcReduction="10000"/>
          </a:bodyPr>
          <a:lstStyle/>
          <a:p>
            <a:pPr marL="0" indent="0">
              <a:buNone/>
            </a:pPr>
            <a:r>
              <a:rPr lang="en-GB" sz="2400" dirty="0"/>
              <a:t>Secondly, the launcher:</a:t>
            </a:r>
          </a:p>
          <a:p>
            <a:pPr marL="0" indent="0">
              <a:buNone/>
            </a:pPr>
            <a:r>
              <a:rPr lang="en-GB" sz="2400" dirty="0"/>
              <a:t>This extract of code is responsible for activating the firing motor when a trigger is pressed and turning it off if not. This code was made by our talented programmer: Alistair (Emma) Taylor. It checks if the correct trigger is pressed and the right conditions are met before allowing the user to spin up the firing wheel and then release the artefact gate to drop an artefact down into the firing chamber.</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4B6B4FC2-B7D3-C269-DE0C-E643FA7C444E}"/>
                  </a:ext>
                </a:extLst>
              </p14:cNvPr>
              <p14:cNvContentPartPr/>
              <p14:nvPr/>
            </p14:nvContentPartPr>
            <p14:xfrm>
              <a:off x="9916560" y="6003820"/>
              <a:ext cx="15120" cy="153360"/>
            </p14:xfrm>
          </p:contentPart>
        </mc:Choice>
        <mc:Fallback xmlns="">
          <p:pic>
            <p:nvPicPr>
              <p:cNvPr id="5" name="Ink 4">
                <a:extLst>
                  <a:ext uri="{FF2B5EF4-FFF2-40B4-BE49-F238E27FC236}">
                    <a16:creationId xmlns:a16="http://schemas.microsoft.com/office/drawing/2014/main" id="{4B6B4FC2-B7D3-C269-DE0C-E643FA7C444E}"/>
                  </a:ext>
                </a:extLst>
              </p:cNvPr>
              <p:cNvPicPr/>
              <p:nvPr/>
            </p:nvPicPr>
            <p:blipFill>
              <a:blip r:embed="rId5"/>
              <a:stretch>
                <a:fillRect/>
              </a:stretch>
            </p:blipFill>
            <p:spPr>
              <a:xfrm>
                <a:off x="9912240" y="5999500"/>
                <a:ext cx="23760" cy="162000"/>
              </a:xfrm>
              <a:prstGeom prst="rect">
                <a:avLst/>
              </a:prstGeom>
            </p:spPr>
          </p:pic>
        </mc:Fallback>
      </mc:AlternateContent>
      <p:sp>
        <p:nvSpPr>
          <p:cNvPr id="4" name="TextBox 3">
            <a:extLst>
              <a:ext uri="{FF2B5EF4-FFF2-40B4-BE49-F238E27FC236}">
                <a16:creationId xmlns:a16="http://schemas.microsoft.com/office/drawing/2014/main" id="{1EFD32FB-87D3-EDFC-6041-86AAB29F95D3}"/>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C1854A04-5B34-615A-2736-FBF3864548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FIRST Tech Challenge - YouTube">
            <a:extLst>
              <a:ext uri="{FF2B5EF4-FFF2-40B4-BE49-F238E27FC236}">
                <a16:creationId xmlns:a16="http://schemas.microsoft.com/office/drawing/2014/main" id="{A487FE71-1A70-D868-C91A-29169304945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F305CB8B-13C6-EA07-4259-AF21FB859483}"/>
              </a:ext>
            </a:extLst>
          </p:cNvPr>
          <p:cNvPicPr>
            <a:picLocks noChangeAspect="1"/>
          </p:cNvPicPr>
          <p:nvPr/>
        </p:nvPicPr>
        <p:blipFill>
          <a:blip r:embed="rId8"/>
          <a:stretch>
            <a:fillRect/>
          </a:stretch>
        </p:blipFill>
        <p:spPr>
          <a:xfrm>
            <a:off x="95734" y="1211967"/>
            <a:ext cx="7052970" cy="5283723"/>
          </a:xfrm>
          <a:prstGeom prst="rect">
            <a:avLst/>
          </a:prstGeom>
        </p:spPr>
      </p:pic>
    </p:spTree>
    <p:extLst>
      <p:ext uri="{BB962C8B-B14F-4D97-AF65-F5344CB8AC3E}">
        <p14:creationId xmlns:p14="http://schemas.microsoft.com/office/powerpoint/2010/main" val="701527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386</TotalTime>
  <Words>954</Words>
  <Application>Microsoft Office PowerPoint</Application>
  <PresentationFormat>Widescreen</PresentationFormat>
  <Paragraphs>65</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Calibri</vt:lpstr>
      <vt:lpstr>Calibri Light</vt:lpstr>
      <vt:lpstr>Office Theme</vt:lpstr>
      <vt:lpstr>HHS 2025-2026 Robotics Season DECODE</vt:lpstr>
      <vt:lpstr>Holmfirth High Robotics - Background</vt:lpstr>
      <vt:lpstr>Alistair(Emma): Programmer</vt:lpstr>
      <vt:lpstr>Elijah: Design and Construction</vt:lpstr>
      <vt:lpstr>Tom: Design and construction</vt:lpstr>
      <vt:lpstr>The Robot</vt:lpstr>
      <vt:lpstr>Drivetrain</vt:lpstr>
      <vt:lpstr>Drivetrain</vt:lpstr>
      <vt:lpstr>Artefact launcher</vt:lpstr>
      <vt:lpstr>Programming - Drive</vt:lpstr>
      <vt:lpstr>Programming - Launcher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AN EXCEPTIONAL ENGINEERING NOTEBOOK</dc:title>
  <dc:creator>Administrator</dc:creator>
  <cp:lastModifiedBy>Miles Clarke</cp:lastModifiedBy>
  <cp:revision>15</cp:revision>
  <dcterms:created xsi:type="dcterms:W3CDTF">2025-12-18T16:57:54Z</dcterms:created>
  <dcterms:modified xsi:type="dcterms:W3CDTF">2026-03-23T13:53:50Z</dcterms:modified>
</cp:coreProperties>
</file>