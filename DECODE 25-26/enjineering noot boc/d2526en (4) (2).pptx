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57" r:id="rId6"/>
    <p:sldId id="264" r:id="rId7"/>
    <p:sldId id="266" r:id="rId8"/>
    <p:sldId id="268" r:id="rId9"/>
    <p:sldId id="267"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336F34-029D-4225-8D5C-EC92A65C4E65}" v="4" dt="2026-01-30T17:00:30.4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p:cViewPr varScale="1">
        <p:scale>
          <a:sx n="111" d="100"/>
          <a:sy n="111" d="100"/>
        </p:scale>
        <p:origin x="4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30T16:16:10.333"/>
    </inkml:context>
    <inkml:brush xml:id="br0">
      <inkml:brushProperty name="width" value="0.025" units="cm"/>
      <inkml:brushProperty name="height" value="0.025" units="cm"/>
    </inkml:brush>
  </inkml:definitions>
  <inkml:trace contextRef="#ctx0" brushRef="#br0">1 0 4082,'31'143'0,"-21"-4"0,-25 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80394-4C26-47C2-AB6B-E3DCF8DF00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F118AA4-1AF3-4D8C-AEE0-E837E48E2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22EB9C1-E81F-49BC-9E10-A05ED201CB63}"/>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250707A4-FC2D-4BEE-93C2-455B3AC0D8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C49F378-168A-4532-9618-757ADE157E18}"/>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596759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023F-6383-4604-9336-17BD34B06F7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B28105-4036-497C-8343-2B41DA66BA5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17D7B58-A851-4099-904F-8C84D20DB2EA}"/>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12E2A06A-6CAC-4EA0-A4A1-76599A9888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153502-ACA0-44FC-9FC4-E2F6C8EA9EC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729939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4C32-17F5-460C-813E-543D9BD8A3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DE79FC6-387B-4030-8B18-9CDF50FC69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073768-5992-4EA8-A380-6F6262B4FFDF}"/>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6BE186A8-2E35-4676-9414-3E7AE59C35E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3499F9-B9D5-4F9E-8021-7ADE927A05F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07860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0E08D-1AED-4A04-8D90-4DC01B0EE9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344D25-E88B-4875-A110-223D18D0AEC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C75BD4E-CC22-4C9A-8F5D-ABC08A9AD30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2FA6F1-ACBE-4B1E-AA63-A424DF980A35}"/>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6" name="Footer Placeholder 5">
            <a:extLst>
              <a:ext uri="{FF2B5EF4-FFF2-40B4-BE49-F238E27FC236}">
                <a16:creationId xmlns:a16="http://schemas.microsoft.com/office/drawing/2014/main" id="{C5D323F0-5EF1-4CB3-B885-4899CCBA68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AA6203-B150-4A7B-B9EF-81D120EC6A57}"/>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359688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BCFE1-14F6-4CB9-A6BD-52767EEAB33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8971D88-51AB-4FA1-8C30-EE6B0040E6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37455BE-3963-45B4-9A0E-D3AE4D13B24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05BF60C-F3C8-4C5B-B6A5-AA7A1BFF98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B3EED6B-D8BC-4C92-ACE0-8F2D323BCBF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2D9BBE-0E4D-4F0F-A9EC-0225366D148F}"/>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8" name="Footer Placeholder 7">
            <a:extLst>
              <a:ext uri="{FF2B5EF4-FFF2-40B4-BE49-F238E27FC236}">
                <a16:creationId xmlns:a16="http://schemas.microsoft.com/office/drawing/2014/main" id="{96B62181-8408-4D65-8E52-D9C0AEEEB47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6F774-7FF8-4DFD-A724-385F528E6BC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4175535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48A25-EA7E-427F-ABDA-2F1690BD39E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B0211FB-942F-4D93-AACF-D0E827BAC437}"/>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4" name="Footer Placeholder 3">
            <a:extLst>
              <a:ext uri="{FF2B5EF4-FFF2-40B4-BE49-F238E27FC236}">
                <a16:creationId xmlns:a16="http://schemas.microsoft.com/office/drawing/2014/main" id="{DECF87F6-31F9-4D0F-A2EF-81561A3989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ED4ED76-5492-47F0-9F69-D80BB5636ED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257305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CA1F4-38CC-4A98-9B5E-17B9622A160C}"/>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3" name="Footer Placeholder 2">
            <a:extLst>
              <a:ext uri="{FF2B5EF4-FFF2-40B4-BE49-F238E27FC236}">
                <a16:creationId xmlns:a16="http://schemas.microsoft.com/office/drawing/2014/main" id="{B0BD2D5E-020F-4A5A-91AF-CD38F409953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3170C28-A7D5-487B-B3DA-901D82543DA3}"/>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67879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AD87-9254-41DD-AADD-173BF3C3C3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92380E-6076-40D0-8754-E3E27ECFF0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10604D3-ACB2-4D33-BC57-949B759F4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8CB57EF-B6CD-4B28-B2F1-33DD289F44E5}"/>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6" name="Footer Placeholder 5">
            <a:extLst>
              <a:ext uri="{FF2B5EF4-FFF2-40B4-BE49-F238E27FC236}">
                <a16:creationId xmlns:a16="http://schemas.microsoft.com/office/drawing/2014/main" id="{1A805881-229E-4FE3-806B-84BAC1E757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BDA184E-CFE7-4F40-BF66-96BA81F477B4}"/>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75480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F9B6-7F60-426A-BCF0-1269B32CC5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8331CB-3CD3-41C4-9671-73474989A0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8770FCD-5794-415B-B7BF-9F6C6F404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7F1ADA5-22AF-4F91-9084-8FDEF81E84BF}"/>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6" name="Footer Placeholder 5">
            <a:extLst>
              <a:ext uri="{FF2B5EF4-FFF2-40B4-BE49-F238E27FC236}">
                <a16:creationId xmlns:a16="http://schemas.microsoft.com/office/drawing/2014/main" id="{A81EAF15-C71E-4395-9386-7509F021B3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6DE3308-1084-4FEF-9D96-2F2BA80A008F}"/>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416472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1811D-9C35-426A-8DD3-8F7E861D962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7ACACFE-0E19-4467-AB6B-72BA1FD04D5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E05A31-CB99-4182-AC2F-8F04D4C411C5}"/>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129195EE-15BF-4F36-99A3-F756E39FC1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A94E6C-D826-437D-929C-91F9924B8841}"/>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346296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320100-767F-49EE-A10C-5B72DFC35E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8FF850-52FF-4A70-9D82-0A8C4B7C555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59C665-E1EB-4DE4-B947-41C89F6A5103}"/>
              </a:ext>
            </a:extLst>
          </p:cNvPr>
          <p:cNvSpPr>
            <a:spLocks noGrp="1"/>
          </p:cNvSpPr>
          <p:nvPr>
            <p:ph type="dt" sz="half" idx="10"/>
          </p:nvPr>
        </p:nvSpPr>
        <p:spPr/>
        <p:txBody>
          <a:body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037DC016-D6AD-408A-840A-F87375BE7B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E56F9C-390D-471B-BF89-031AE3AD34FD}"/>
              </a:ext>
            </a:extLst>
          </p:cNvPr>
          <p:cNvSpPr>
            <a:spLocks noGrp="1"/>
          </p:cNvSpPr>
          <p:nvPr>
            <p:ph type="sldNum" sz="quarter" idx="12"/>
          </p:nvPr>
        </p:nvSpPr>
        <p:spPr/>
        <p:txBody>
          <a:bodyPr/>
          <a:lstStyle/>
          <a:p>
            <a:fld id="{84039E30-608A-4070-A9E8-FAE4479E990A}" type="slidenum">
              <a:rPr lang="en-GB" smtClean="0"/>
              <a:t>‹#›</a:t>
            </a:fld>
            <a:endParaRPr lang="en-GB"/>
          </a:p>
        </p:txBody>
      </p:sp>
    </p:spTree>
    <p:extLst>
      <p:ext uri="{BB962C8B-B14F-4D97-AF65-F5344CB8AC3E}">
        <p14:creationId xmlns:p14="http://schemas.microsoft.com/office/powerpoint/2010/main" val="1733769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211260-B8B1-496E-9B3A-6919328077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6302254-A002-49B1-9072-1A7B54D4CD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6EC65A-1019-44B8-8A32-7F5B8CACE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40E8B5-3F65-4593-AF3B-73255D056693}" type="datetimeFigureOut">
              <a:rPr lang="en-GB" smtClean="0"/>
              <a:t>25/02/2026</a:t>
            </a:fld>
            <a:endParaRPr lang="en-GB"/>
          </a:p>
        </p:txBody>
      </p:sp>
      <p:sp>
        <p:nvSpPr>
          <p:cNvPr id="5" name="Footer Placeholder 4">
            <a:extLst>
              <a:ext uri="{FF2B5EF4-FFF2-40B4-BE49-F238E27FC236}">
                <a16:creationId xmlns:a16="http://schemas.microsoft.com/office/drawing/2014/main" id="{5FA057D8-E7BF-4BEE-A208-27478C93B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AD1D5C4-78E3-470F-8F81-AFBEA75826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039E30-608A-4070-A9E8-FAE4479E990A}" type="slidenum">
              <a:rPr lang="en-GB" smtClean="0"/>
              <a:t>‹#›</a:t>
            </a:fld>
            <a:endParaRPr lang="en-GB"/>
          </a:p>
        </p:txBody>
      </p:sp>
    </p:spTree>
    <p:extLst>
      <p:ext uri="{BB962C8B-B14F-4D97-AF65-F5344CB8AC3E}">
        <p14:creationId xmlns:p14="http://schemas.microsoft.com/office/powerpoint/2010/main" val="4145649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A35D-A9BF-4DF3-A908-BAB1A0C205E8}"/>
              </a:ext>
            </a:extLst>
          </p:cNvPr>
          <p:cNvSpPr>
            <a:spLocks noGrp="1"/>
          </p:cNvSpPr>
          <p:nvPr>
            <p:ph type="ctrTitle"/>
          </p:nvPr>
        </p:nvSpPr>
        <p:spPr/>
        <p:txBody>
          <a:bodyPr>
            <a:normAutofit/>
          </a:bodyPr>
          <a:lstStyle/>
          <a:p>
            <a:r>
              <a:rPr lang="en-GB" sz="4000" dirty="0">
                <a:solidFill>
                  <a:schemeClr val="tx2">
                    <a:lumMod val="75000"/>
                  </a:schemeClr>
                </a:solidFill>
              </a:rPr>
              <a:t>HHS 2025-2026 Robotics Season DECODE</a:t>
            </a:r>
          </a:p>
        </p:txBody>
      </p:sp>
      <p:sp>
        <p:nvSpPr>
          <p:cNvPr id="3" name="Subtitle 2">
            <a:extLst>
              <a:ext uri="{FF2B5EF4-FFF2-40B4-BE49-F238E27FC236}">
                <a16:creationId xmlns:a16="http://schemas.microsoft.com/office/drawing/2014/main" id="{92D4B1E9-1622-45A5-8495-41935C20D80A}"/>
              </a:ext>
            </a:extLst>
          </p:cNvPr>
          <p:cNvSpPr>
            <a:spLocks noGrp="1"/>
          </p:cNvSpPr>
          <p:nvPr>
            <p:ph type="subTitle" idx="1"/>
          </p:nvPr>
        </p:nvSpPr>
        <p:spPr/>
        <p:txBody>
          <a:bodyPr>
            <a:normAutofit/>
          </a:bodyPr>
          <a:lstStyle/>
          <a:p>
            <a:r>
              <a:rPr lang="en-GB" dirty="0">
                <a:solidFill>
                  <a:schemeClr val="accent1">
                    <a:lumMod val="75000"/>
                  </a:schemeClr>
                </a:solidFill>
              </a:rPr>
              <a:t>By Alistair Taylor, Flynn Lambley, Elijah Sutton, Miles Clarke, Lilly Salter, Benjamin Hosey, Toby Parrish</a:t>
            </a:r>
          </a:p>
        </p:txBody>
      </p:sp>
      <p:pic>
        <p:nvPicPr>
          <p:cNvPr id="1026" name="Picture 2" descr="FIRST Tech Challenge - YouTube">
            <a:extLst>
              <a:ext uri="{FF2B5EF4-FFF2-40B4-BE49-F238E27FC236}">
                <a16:creationId xmlns:a16="http://schemas.microsoft.com/office/drawing/2014/main" id="{5F313868-89A3-E250-3A3F-2C182F42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1B1940-250C-00DD-3DB6-5138FF9C8F35}"/>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1028" name="Picture 4" descr="2025-2026 DECODE">
            <a:extLst>
              <a:ext uri="{FF2B5EF4-FFF2-40B4-BE49-F238E27FC236}">
                <a16:creationId xmlns:a16="http://schemas.microsoft.com/office/drawing/2014/main" id="{ECEE3BC6-2D3F-0381-3BA6-4B25573E4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00479" y="100698"/>
            <a:ext cx="1762125"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va custom software development">
            <a:extLst>
              <a:ext uri="{FF2B5EF4-FFF2-40B4-BE49-F238E27FC236}">
                <a16:creationId xmlns:a16="http://schemas.microsoft.com/office/drawing/2014/main" id="{0CF5A408-FDDE-1BC8-2288-95F504A6C1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4892674"/>
            <a:ext cx="270510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326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620E2-0D5F-BC54-15B6-CEBA2EC25599}"/>
              </a:ext>
            </a:extLst>
          </p:cNvPr>
          <p:cNvSpPr>
            <a:spLocks noGrp="1"/>
          </p:cNvSpPr>
          <p:nvPr>
            <p:ph type="title"/>
          </p:nvPr>
        </p:nvSpPr>
        <p:spPr>
          <a:xfrm>
            <a:off x="838200" y="2165230"/>
            <a:ext cx="10515600" cy="1810649"/>
          </a:xfrm>
        </p:spPr>
        <p:txBody>
          <a:bodyPr>
            <a:noAutofit/>
          </a:bodyPr>
          <a:lstStyle/>
          <a:p>
            <a:pPr algn="ctr"/>
            <a:r>
              <a:rPr lang="en-GB" sz="11200" dirty="0"/>
              <a:t>Meet the team:</a:t>
            </a:r>
          </a:p>
        </p:txBody>
      </p:sp>
      <p:pic>
        <p:nvPicPr>
          <p:cNvPr id="4" name="Picture 2" descr="FIRST Tech Challenge - YouTube">
            <a:extLst>
              <a:ext uri="{FF2B5EF4-FFF2-40B4-BE49-F238E27FC236}">
                <a16:creationId xmlns:a16="http://schemas.microsoft.com/office/drawing/2014/main" id="{3EA54C03-726C-1F2A-CA32-F0AC95727F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939A959-E43C-B122-0CFB-6D5EEC1A5F21}"/>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7D4121F8-51F2-F47A-DB5E-C1321D920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828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31406-9FFD-F05C-88E5-817E097E7A7F}"/>
              </a:ext>
            </a:extLst>
          </p:cNvPr>
          <p:cNvSpPr>
            <a:spLocks noGrp="1"/>
          </p:cNvSpPr>
          <p:nvPr>
            <p:ph type="title"/>
          </p:nvPr>
        </p:nvSpPr>
        <p:spPr>
          <a:xfrm>
            <a:off x="943988" y="365126"/>
            <a:ext cx="3371491" cy="473076"/>
          </a:xfrm>
          <a:ln w="12700">
            <a:solidFill>
              <a:schemeClr val="tx1"/>
            </a:solidFill>
          </a:ln>
        </p:spPr>
        <p:txBody>
          <a:bodyPr>
            <a:normAutofit/>
          </a:bodyPr>
          <a:lstStyle/>
          <a:p>
            <a:r>
              <a:rPr lang="en-GB" sz="2400" dirty="0"/>
              <a:t>Alistair: Programmer</a:t>
            </a:r>
          </a:p>
        </p:txBody>
      </p:sp>
      <p:sp>
        <p:nvSpPr>
          <p:cNvPr id="3" name="Content Placeholder 2">
            <a:extLst>
              <a:ext uri="{FF2B5EF4-FFF2-40B4-BE49-F238E27FC236}">
                <a16:creationId xmlns:a16="http://schemas.microsoft.com/office/drawing/2014/main" id="{E73FC366-37D4-548B-CF2C-D006A486BF36}"/>
              </a:ext>
            </a:extLst>
          </p:cNvPr>
          <p:cNvSpPr>
            <a:spLocks noGrp="1"/>
          </p:cNvSpPr>
          <p:nvPr>
            <p:ph idx="1"/>
          </p:nvPr>
        </p:nvSpPr>
        <p:spPr>
          <a:xfrm>
            <a:off x="941713" y="838201"/>
            <a:ext cx="8659487" cy="923330"/>
          </a:xfrm>
          <a:ln>
            <a:solidFill>
              <a:schemeClr val="tx1"/>
            </a:solidFill>
          </a:ln>
        </p:spPr>
        <p:txBody>
          <a:bodyPr>
            <a:normAutofit fontScale="25000" lnSpcReduction="20000"/>
          </a:bodyPr>
          <a:lstStyle/>
          <a:p>
            <a:pPr marL="0" indent="0">
              <a:buNone/>
            </a:pPr>
            <a:r>
              <a:rPr lang="en-GB" sz="4000" dirty="0"/>
              <a:t>Brief: Upskilled programming language to java from blocks.</a:t>
            </a:r>
          </a:p>
          <a:p>
            <a:pPr marL="0" indent="0">
              <a:buNone/>
            </a:pPr>
            <a:r>
              <a:rPr lang="en-GB" sz="4000" dirty="0"/>
              <a:t>Programmed drivetrain, left, right, diagonal, forward, backwards motion.</a:t>
            </a:r>
          </a:p>
          <a:p>
            <a:pPr marL="0" indent="0">
              <a:buNone/>
            </a:pPr>
            <a:r>
              <a:rPr lang="en-GB" sz="4000" dirty="0"/>
              <a:t>Programmed flywheel launcher and “artefact gate” servo.</a:t>
            </a:r>
          </a:p>
          <a:p>
            <a:pPr marL="0" indent="0">
              <a:buNone/>
            </a:pPr>
            <a:r>
              <a:rPr lang="en-GB" sz="4000" dirty="0"/>
              <a:t>Programmed distance sensor and camera.</a:t>
            </a:r>
          </a:p>
          <a:p>
            <a:pPr marL="0" indent="0">
              <a:buNone/>
            </a:pPr>
            <a:endParaRPr lang="en-GB" dirty="0"/>
          </a:p>
        </p:txBody>
      </p:sp>
      <p:pic>
        <p:nvPicPr>
          <p:cNvPr id="4" name="Picture 2" descr="FIRST Tech Challenge - YouTube">
            <a:extLst>
              <a:ext uri="{FF2B5EF4-FFF2-40B4-BE49-F238E27FC236}">
                <a16:creationId xmlns:a16="http://schemas.microsoft.com/office/drawing/2014/main" id="{5FA267BD-522A-8638-27F4-A94930B1B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72320EF-6B02-43E7-380D-65EDC686F4E7}"/>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1BF5F9D-2E1C-90F0-9627-7DD266760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E4826166-2DDF-4595-AD59-FC54C9BE3620}"/>
              </a:ext>
            </a:extLst>
          </p:cNvPr>
          <p:cNvSpPr txBox="1">
            <a:spLocks/>
          </p:cNvSpPr>
          <p:nvPr/>
        </p:nvSpPr>
        <p:spPr>
          <a:xfrm>
            <a:off x="949746" y="1915004"/>
            <a:ext cx="3371491"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t>Miles –Project Manager</a:t>
            </a:r>
          </a:p>
        </p:txBody>
      </p:sp>
      <p:sp>
        <p:nvSpPr>
          <p:cNvPr id="8" name="Content Placeholder 2">
            <a:extLst>
              <a:ext uri="{FF2B5EF4-FFF2-40B4-BE49-F238E27FC236}">
                <a16:creationId xmlns:a16="http://schemas.microsoft.com/office/drawing/2014/main" id="{06E6A9C1-EAAB-EED2-7061-E13420863034}"/>
              </a:ext>
            </a:extLst>
          </p:cNvPr>
          <p:cNvSpPr txBox="1">
            <a:spLocks/>
          </p:cNvSpPr>
          <p:nvPr/>
        </p:nvSpPr>
        <p:spPr>
          <a:xfrm>
            <a:off x="949746" y="2429949"/>
            <a:ext cx="8659487" cy="923330"/>
          </a:xfrm>
          <a:prstGeom prst="rect">
            <a:avLst/>
          </a:prstGeom>
          <a:ln>
            <a:solidFill>
              <a:schemeClr val="tx1"/>
            </a:solidFill>
          </a:ln>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Brief: Program and design consultant responsible for ensuring that the group stays on task and there is always a cross pollination of ideas and gracious professionalism and drafting and producing our final engineering portfolio.</a:t>
            </a:r>
          </a:p>
        </p:txBody>
      </p:sp>
      <p:sp>
        <p:nvSpPr>
          <p:cNvPr id="9" name="Title 1">
            <a:extLst>
              <a:ext uri="{FF2B5EF4-FFF2-40B4-BE49-F238E27FC236}">
                <a16:creationId xmlns:a16="http://schemas.microsoft.com/office/drawing/2014/main" id="{4EA1A899-9938-495C-7864-1C01FC91A95D}"/>
              </a:ext>
            </a:extLst>
          </p:cNvPr>
          <p:cNvSpPr txBox="1">
            <a:spLocks/>
          </p:cNvSpPr>
          <p:nvPr/>
        </p:nvSpPr>
        <p:spPr>
          <a:xfrm>
            <a:off x="946870" y="3585650"/>
            <a:ext cx="3371491" cy="473076"/>
          </a:xfrm>
          <a:prstGeom prst="rect">
            <a:avLst/>
          </a:prstGeom>
          <a:ln w="12700">
            <a:solidFill>
              <a:schemeClr val="tx1"/>
            </a:solidFill>
          </a:ln>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t>Lilly – Design and Construction </a:t>
            </a:r>
          </a:p>
        </p:txBody>
      </p:sp>
      <p:sp>
        <p:nvSpPr>
          <p:cNvPr id="10" name="Content Placeholder 2">
            <a:extLst>
              <a:ext uri="{FF2B5EF4-FFF2-40B4-BE49-F238E27FC236}">
                <a16:creationId xmlns:a16="http://schemas.microsoft.com/office/drawing/2014/main" id="{5D20DD1B-25F5-84B7-5C39-BB03A6E2D97A}"/>
              </a:ext>
            </a:extLst>
          </p:cNvPr>
          <p:cNvSpPr txBox="1">
            <a:spLocks/>
          </p:cNvSpPr>
          <p:nvPr/>
        </p:nvSpPr>
        <p:spPr>
          <a:xfrm>
            <a:off x="944595" y="4058725"/>
            <a:ext cx="8659487" cy="923330"/>
          </a:xfrm>
          <a:prstGeom prst="rect">
            <a:avLst/>
          </a:prstGeom>
          <a:ln>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Brief: Update drivetrain.</a:t>
            </a:r>
          </a:p>
          <a:p>
            <a:pPr marL="0" indent="0">
              <a:buFont typeface="Arial" panose="020B0604020202020204" pitchFamily="34" charset="0"/>
              <a:buNone/>
            </a:pPr>
            <a:r>
              <a:rPr lang="en-GB" dirty="0"/>
              <a:t>Design and build scaffolding/support for flywheel launcher and ramp.</a:t>
            </a:r>
          </a:p>
        </p:txBody>
      </p:sp>
      <p:sp>
        <p:nvSpPr>
          <p:cNvPr id="11" name="Rectangle 10">
            <a:extLst>
              <a:ext uri="{FF2B5EF4-FFF2-40B4-BE49-F238E27FC236}">
                <a16:creationId xmlns:a16="http://schemas.microsoft.com/office/drawing/2014/main" id="{410529A1-D159-1D19-D6CF-93D84CCFB1C9}"/>
              </a:ext>
            </a:extLst>
          </p:cNvPr>
          <p:cNvSpPr/>
          <p:nvPr/>
        </p:nvSpPr>
        <p:spPr>
          <a:xfrm>
            <a:off x="4315479" y="365126"/>
            <a:ext cx="5285721" cy="47307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E4F3B74-D3B7-BEAA-5BAD-27F4A4DC48D4}"/>
              </a:ext>
            </a:extLst>
          </p:cNvPr>
          <p:cNvSpPr/>
          <p:nvPr/>
        </p:nvSpPr>
        <p:spPr>
          <a:xfrm>
            <a:off x="4323512" y="1915005"/>
            <a:ext cx="5285721" cy="47307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E03A84D2-B227-35DC-728F-AFFB7A97F433}"/>
              </a:ext>
            </a:extLst>
          </p:cNvPr>
          <p:cNvSpPr/>
          <p:nvPr/>
        </p:nvSpPr>
        <p:spPr>
          <a:xfrm>
            <a:off x="4323512" y="3585649"/>
            <a:ext cx="5285721" cy="47307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18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1C16B-1A46-2D45-622A-3B27A9AF8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1315C-B5BA-4FE2-43F4-826C027A5264}"/>
              </a:ext>
            </a:extLst>
          </p:cNvPr>
          <p:cNvSpPr>
            <a:spLocks noGrp="1"/>
          </p:cNvSpPr>
          <p:nvPr>
            <p:ph type="title"/>
          </p:nvPr>
        </p:nvSpPr>
        <p:spPr>
          <a:xfrm>
            <a:off x="943988" y="365126"/>
            <a:ext cx="3852299" cy="473076"/>
          </a:xfrm>
          <a:ln w="12700">
            <a:solidFill>
              <a:schemeClr val="tx1"/>
            </a:solidFill>
          </a:ln>
        </p:spPr>
        <p:txBody>
          <a:bodyPr>
            <a:normAutofit fontScale="90000"/>
          </a:bodyPr>
          <a:lstStyle/>
          <a:p>
            <a:r>
              <a:rPr lang="en-GB" sz="2400" dirty="0"/>
              <a:t>Elijah: Design and Construction</a:t>
            </a:r>
          </a:p>
        </p:txBody>
      </p:sp>
      <p:sp>
        <p:nvSpPr>
          <p:cNvPr id="3" name="Content Placeholder 2">
            <a:extLst>
              <a:ext uri="{FF2B5EF4-FFF2-40B4-BE49-F238E27FC236}">
                <a16:creationId xmlns:a16="http://schemas.microsoft.com/office/drawing/2014/main" id="{7A65F112-1679-252C-9D3B-18DB77F99247}"/>
              </a:ext>
            </a:extLst>
          </p:cNvPr>
          <p:cNvSpPr>
            <a:spLocks noGrp="1"/>
          </p:cNvSpPr>
          <p:nvPr>
            <p:ph idx="1"/>
          </p:nvPr>
        </p:nvSpPr>
        <p:spPr>
          <a:xfrm>
            <a:off x="941713" y="838201"/>
            <a:ext cx="8659487" cy="923330"/>
          </a:xfrm>
          <a:ln>
            <a:solidFill>
              <a:schemeClr val="tx1"/>
            </a:solidFill>
          </a:ln>
        </p:spPr>
        <p:txBody>
          <a:bodyPr>
            <a:normAutofit fontScale="77500" lnSpcReduction="20000"/>
          </a:bodyPr>
          <a:lstStyle/>
          <a:p>
            <a:pPr marL="0" indent="0">
              <a:buNone/>
            </a:pPr>
            <a:r>
              <a:rPr lang="en-GB" dirty="0"/>
              <a:t>Brief: Update drivetrain.</a:t>
            </a:r>
          </a:p>
          <a:p>
            <a:pPr marL="0" indent="0">
              <a:buNone/>
            </a:pPr>
            <a:r>
              <a:rPr lang="en-GB" dirty="0"/>
              <a:t>Design and build scaffolding/support for flywheel launcher and ramp.</a:t>
            </a:r>
          </a:p>
          <a:p>
            <a:pPr marL="0" indent="0">
              <a:buNone/>
            </a:pPr>
            <a:endParaRPr lang="en-GB" dirty="0"/>
          </a:p>
        </p:txBody>
      </p:sp>
      <p:pic>
        <p:nvPicPr>
          <p:cNvPr id="4" name="Picture 2" descr="FIRST Tech Challenge - YouTube">
            <a:extLst>
              <a:ext uri="{FF2B5EF4-FFF2-40B4-BE49-F238E27FC236}">
                <a16:creationId xmlns:a16="http://schemas.microsoft.com/office/drawing/2014/main" id="{8FC48A72-2B55-7702-D6F8-90E24081D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454B1B4-FCF2-3A29-DA22-D48F88E8332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10C3FFC2-9F05-2050-D678-E2E3A4E6EF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F759985C-2601-3666-0261-ADFF5F509DBF}"/>
              </a:ext>
            </a:extLst>
          </p:cNvPr>
          <p:cNvSpPr txBox="1">
            <a:spLocks/>
          </p:cNvSpPr>
          <p:nvPr/>
        </p:nvSpPr>
        <p:spPr>
          <a:xfrm>
            <a:off x="949746" y="1915004"/>
            <a:ext cx="3371491" cy="473076"/>
          </a:xfrm>
          <a:prstGeom prst="rect">
            <a:avLst/>
          </a:prstGeom>
          <a:ln w="1270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t>Flynn: Output designer</a:t>
            </a:r>
          </a:p>
        </p:txBody>
      </p:sp>
      <p:sp>
        <p:nvSpPr>
          <p:cNvPr id="8" name="Content Placeholder 2">
            <a:extLst>
              <a:ext uri="{FF2B5EF4-FFF2-40B4-BE49-F238E27FC236}">
                <a16:creationId xmlns:a16="http://schemas.microsoft.com/office/drawing/2014/main" id="{EAF61058-92AC-8B84-E3F4-62CE0C648394}"/>
              </a:ext>
            </a:extLst>
          </p:cNvPr>
          <p:cNvSpPr txBox="1">
            <a:spLocks/>
          </p:cNvSpPr>
          <p:nvPr/>
        </p:nvSpPr>
        <p:spPr>
          <a:xfrm>
            <a:off x="947471" y="2388079"/>
            <a:ext cx="8659487" cy="923330"/>
          </a:xfrm>
          <a:prstGeom prst="rect">
            <a:avLst/>
          </a:prstGeom>
          <a:ln>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Brief: Update drivetrain.</a:t>
            </a:r>
          </a:p>
          <a:p>
            <a:pPr marL="0" indent="0">
              <a:buNone/>
            </a:pPr>
            <a:r>
              <a:rPr lang="en-GB" dirty="0"/>
              <a:t>Design and build scaffolding/support for flywheel launcher and ramp.</a:t>
            </a:r>
          </a:p>
        </p:txBody>
      </p:sp>
      <p:sp>
        <p:nvSpPr>
          <p:cNvPr id="9" name="Title 1">
            <a:extLst>
              <a:ext uri="{FF2B5EF4-FFF2-40B4-BE49-F238E27FC236}">
                <a16:creationId xmlns:a16="http://schemas.microsoft.com/office/drawing/2014/main" id="{83C01E3F-AB45-8F32-F067-A2EE04C67FBC}"/>
              </a:ext>
            </a:extLst>
          </p:cNvPr>
          <p:cNvSpPr txBox="1">
            <a:spLocks/>
          </p:cNvSpPr>
          <p:nvPr/>
        </p:nvSpPr>
        <p:spPr>
          <a:xfrm>
            <a:off x="946870" y="3585650"/>
            <a:ext cx="3371491" cy="473076"/>
          </a:xfrm>
          <a:prstGeom prst="rect">
            <a:avLst/>
          </a:prstGeom>
          <a:ln w="12700">
            <a:solidFill>
              <a:schemeClr val="tx1"/>
            </a:solidFill>
          </a:ln>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400" dirty="0"/>
              <a:t>Benjamin: Advisor and Support</a:t>
            </a:r>
          </a:p>
        </p:txBody>
      </p:sp>
      <p:sp>
        <p:nvSpPr>
          <p:cNvPr id="10" name="Content Placeholder 2">
            <a:extLst>
              <a:ext uri="{FF2B5EF4-FFF2-40B4-BE49-F238E27FC236}">
                <a16:creationId xmlns:a16="http://schemas.microsoft.com/office/drawing/2014/main" id="{8B443BC1-A25B-F792-6EE3-19002AF4BAFA}"/>
              </a:ext>
            </a:extLst>
          </p:cNvPr>
          <p:cNvSpPr txBox="1">
            <a:spLocks/>
          </p:cNvSpPr>
          <p:nvPr/>
        </p:nvSpPr>
        <p:spPr>
          <a:xfrm>
            <a:off x="944595" y="4058725"/>
            <a:ext cx="8659487" cy="923330"/>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Brief: Critically analyse design and construction. </a:t>
            </a:r>
          </a:p>
        </p:txBody>
      </p:sp>
      <p:sp>
        <p:nvSpPr>
          <p:cNvPr id="14" name="Rectangle 13">
            <a:extLst>
              <a:ext uri="{FF2B5EF4-FFF2-40B4-BE49-F238E27FC236}">
                <a16:creationId xmlns:a16="http://schemas.microsoft.com/office/drawing/2014/main" id="{FAB849E5-B27D-527A-27C4-C5709453AF4B}"/>
              </a:ext>
            </a:extLst>
          </p:cNvPr>
          <p:cNvSpPr/>
          <p:nvPr/>
        </p:nvSpPr>
        <p:spPr>
          <a:xfrm>
            <a:off x="4658264" y="365126"/>
            <a:ext cx="4942936" cy="47307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AB2A5913-C565-F16C-7CEC-2DCD28D10167}"/>
              </a:ext>
            </a:extLst>
          </p:cNvPr>
          <p:cNvSpPr/>
          <p:nvPr/>
        </p:nvSpPr>
        <p:spPr>
          <a:xfrm>
            <a:off x="4323512" y="1915005"/>
            <a:ext cx="5285721" cy="473074"/>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4A9CEDD1-1919-B0AA-01F2-35DE70CEB114}"/>
              </a:ext>
            </a:extLst>
          </p:cNvPr>
          <p:cNvSpPr/>
          <p:nvPr/>
        </p:nvSpPr>
        <p:spPr>
          <a:xfrm>
            <a:off x="4323512" y="3585649"/>
            <a:ext cx="5285721" cy="473074"/>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83265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B37AE-BDDF-AB4A-46DD-DB5962858EAB}"/>
              </a:ext>
            </a:extLst>
          </p:cNvPr>
          <p:cNvSpPr>
            <a:spLocks noGrp="1"/>
          </p:cNvSpPr>
          <p:nvPr>
            <p:ph type="title"/>
          </p:nvPr>
        </p:nvSpPr>
        <p:spPr/>
        <p:txBody>
          <a:bodyPr/>
          <a:lstStyle/>
          <a:p>
            <a:r>
              <a:rPr lang="en-GB" dirty="0"/>
              <a:t>Holmfirth high robotics</a:t>
            </a:r>
          </a:p>
        </p:txBody>
      </p:sp>
      <p:sp>
        <p:nvSpPr>
          <p:cNvPr id="3" name="Content Placeholder 2">
            <a:extLst>
              <a:ext uri="{FF2B5EF4-FFF2-40B4-BE49-F238E27FC236}">
                <a16:creationId xmlns:a16="http://schemas.microsoft.com/office/drawing/2014/main" id="{BE9BD050-93A7-350D-3B4B-44F78A45E9E4}"/>
              </a:ext>
            </a:extLst>
          </p:cNvPr>
          <p:cNvSpPr>
            <a:spLocks noGrp="1"/>
          </p:cNvSpPr>
          <p:nvPr>
            <p:ph idx="1"/>
          </p:nvPr>
        </p:nvSpPr>
        <p:spPr>
          <a:xfrm>
            <a:off x="838199" y="1482634"/>
            <a:ext cx="10515600" cy="4351338"/>
          </a:xfrm>
        </p:spPr>
        <p:txBody>
          <a:bodyPr>
            <a:normAutofit/>
          </a:bodyPr>
          <a:lstStyle/>
          <a:p>
            <a:pPr marL="0" indent="0">
              <a:buNone/>
            </a:pPr>
            <a:r>
              <a:rPr lang="en-GB" sz="3200" dirty="0"/>
              <a:t>The team has been in place since 2019 and successfully competed at York stem centre, placing third in the regional competition. We have competed twice at the midlands regional competition in 2022 and 23 and currently compete in the Yorkshire regionals at Hallam university.</a:t>
            </a:r>
          </a:p>
          <a:p>
            <a:pPr marL="0" indent="0">
              <a:buNone/>
            </a:pPr>
            <a:r>
              <a:rPr lang="en-GB" sz="3200" dirty="0"/>
              <a:t>Each year the team is made up of a number of students from year 7 to 11 with the majority of them in years 10 and 11. In 2025, we were able to enter two teams.</a:t>
            </a:r>
          </a:p>
        </p:txBody>
      </p:sp>
      <p:pic>
        <p:nvPicPr>
          <p:cNvPr id="4" name="Picture 2" descr="FIRST Tech Challenge - YouTube">
            <a:extLst>
              <a:ext uri="{FF2B5EF4-FFF2-40B4-BE49-F238E27FC236}">
                <a16:creationId xmlns:a16="http://schemas.microsoft.com/office/drawing/2014/main" id="{8783E3C9-34A0-ADEE-6AEC-68EA83B0B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E7B912-187F-ACBC-AC66-18AEFD9C3542}"/>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D2291A97-BE4A-0807-8110-EC6BD4CDC0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66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397B-9226-FD70-906F-A4258FF18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3A2AF8-6673-D163-0645-D6BECE070626}"/>
              </a:ext>
            </a:extLst>
          </p:cNvPr>
          <p:cNvSpPr>
            <a:spLocks noGrp="1"/>
          </p:cNvSpPr>
          <p:nvPr>
            <p:ph type="title"/>
          </p:nvPr>
        </p:nvSpPr>
        <p:spPr/>
        <p:txBody>
          <a:bodyPr/>
          <a:lstStyle/>
          <a:p>
            <a:r>
              <a:rPr lang="en-GB" dirty="0"/>
              <a:t>The Robot</a:t>
            </a:r>
          </a:p>
        </p:txBody>
      </p:sp>
      <p:sp>
        <p:nvSpPr>
          <p:cNvPr id="3" name="Content Placeholder 2">
            <a:extLst>
              <a:ext uri="{FF2B5EF4-FFF2-40B4-BE49-F238E27FC236}">
                <a16:creationId xmlns:a16="http://schemas.microsoft.com/office/drawing/2014/main" id="{3652CB8E-11F9-95A6-ECC8-27E36F4CEB45}"/>
              </a:ext>
            </a:extLst>
          </p:cNvPr>
          <p:cNvSpPr>
            <a:spLocks noGrp="1"/>
          </p:cNvSpPr>
          <p:nvPr>
            <p:ph idx="1"/>
          </p:nvPr>
        </p:nvSpPr>
        <p:spPr/>
        <p:txBody>
          <a:bodyPr/>
          <a:lstStyle/>
          <a:p>
            <a:pPr marL="0" indent="0">
              <a:buNone/>
            </a:pPr>
            <a:r>
              <a:rPr lang="en-GB" dirty="0"/>
              <a:t>Summary:</a:t>
            </a:r>
          </a:p>
          <a:p>
            <a:pPr marL="0" indent="0">
              <a:buNone/>
            </a:pPr>
            <a:r>
              <a:rPr lang="en-GB" dirty="0"/>
              <a:t>The robot is built up in three parts: </a:t>
            </a:r>
          </a:p>
          <a:p>
            <a:pPr marL="514350" indent="-514350">
              <a:buAutoNum type="arabicPeriod"/>
            </a:pPr>
            <a:r>
              <a:rPr lang="en-GB" dirty="0"/>
              <a:t>Drivetrain </a:t>
            </a:r>
          </a:p>
          <a:p>
            <a:pPr marL="514350" indent="-514350">
              <a:buAutoNum type="arabicPeriod"/>
            </a:pPr>
            <a:r>
              <a:rPr lang="en-GB" dirty="0"/>
              <a:t>Artefact Launcher/gate</a:t>
            </a:r>
          </a:p>
          <a:p>
            <a:pPr marL="514350" indent="-514350">
              <a:buAutoNum type="arabicPeriod"/>
            </a:pPr>
            <a:r>
              <a:rPr lang="en-GB" dirty="0"/>
              <a:t>Remote Sensing</a:t>
            </a:r>
          </a:p>
          <a:p>
            <a:pPr marL="0" indent="0">
              <a:buNone/>
            </a:pPr>
            <a:r>
              <a:rPr lang="en-GB" dirty="0"/>
              <a:t>In addition, programming</a:t>
            </a:r>
          </a:p>
          <a:p>
            <a:pPr marL="514350" indent="-514350">
              <a:buAutoNum type="arabicPeriod"/>
            </a:pPr>
            <a:endParaRPr lang="en-GB" dirty="0"/>
          </a:p>
        </p:txBody>
      </p:sp>
      <p:pic>
        <p:nvPicPr>
          <p:cNvPr id="4" name="Picture 2" descr="FIRST Tech Challenge - YouTube">
            <a:extLst>
              <a:ext uri="{FF2B5EF4-FFF2-40B4-BE49-F238E27FC236}">
                <a16:creationId xmlns:a16="http://schemas.microsoft.com/office/drawing/2014/main" id="{8451E8FC-0184-23F6-4621-CC22008A56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0B9AD6-C09D-2BD8-B432-AB383E8D6549}"/>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9AB57DA6-0884-22F5-FE92-13C55D948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173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67396-4DAA-2C8E-3FC5-28B823579A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36008B-48F7-4DE5-132D-BB2C579A9B28}"/>
              </a:ext>
            </a:extLst>
          </p:cNvPr>
          <p:cNvSpPr>
            <a:spLocks noGrp="1"/>
          </p:cNvSpPr>
          <p:nvPr>
            <p:ph type="title"/>
          </p:nvPr>
        </p:nvSpPr>
        <p:spPr/>
        <p:txBody>
          <a:bodyPr/>
          <a:lstStyle/>
          <a:p>
            <a:r>
              <a:rPr lang="en-GB" dirty="0"/>
              <a:t>Drivetrain</a:t>
            </a:r>
          </a:p>
        </p:txBody>
      </p:sp>
      <p:sp>
        <p:nvSpPr>
          <p:cNvPr id="3" name="Content Placeholder 2">
            <a:extLst>
              <a:ext uri="{FF2B5EF4-FFF2-40B4-BE49-F238E27FC236}">
                <a16:creationId xmlns:a16="http://schemas.microsoft.com/office/drawing/2014/main" id="{DC736A06-5FE3-CA6C-944B-41DD3A04E0DF}"/>
              </a:ext>
            </a:extLst>
          </p:cNvPr>
          <p:cNvSpPr>
            <a:spLocks noGrp="1"/>
          </p:cNvSpPr>
          <p:nvPr>
            <p:ph idx="1"/>
          </p:nvPr>
        </p:nvSpPr>
        <p:spPr>
          <a:xfrm>
            <a:off x="838200" y="1586661"/>
            <a:ext cx="10515600" cy="2510886"/>
          </a:xfrm>
        </p:spPr>
        <p:txBody>
          <a:bodyPr/>
          <a:lstStyle/>
          <a:p>
            <a:pPr marL="0" indent="0">
              <a:buNone/>
            </a:pPr>
            <a:r>
              <a:rPr lang="en-GB" dirty="0"/>
              <a:t>Our current drivetrain is two years old. Initially made from extruded aluminium t slots, we were able to get a grant from our Parent Teacher Association to buy a number of c channels and planetary motors and omnidirectional wheels. The current drivetrain is built around the design of the </a:t>
            </a:r>
            <a:r>
              <a:rPr lang="en-GB" dirty="0" err="1"/>
              <a:t>Meccanum</a:t>
            </a:r>
            <a:r>
              <a:rPr lang="en-GB" dirty="0"/>
              <a:t> drivetrain kit with 90 degree boxes enabling the motors to sit inside the c channels for a more compact design.</a:t>
            </a:r>
          </a:p>
        </p:txBody>
      </p:sp>
      <p:pic>
        <p:nvPicPr>
          <p:cNvPr id="4" name="Picture 2" descr="FIRST Tech Challenge - YouTube">
            <a:extLst>
              <a:ext uri="{FF2B5EF4-FFF2-40B4-BE49-F238E27FC236}">
                <a16:creationId xmlns:a16="http://schemas.microsoft.com/office/drawing/2014/main" id="{48738B4A-6CA0-5E63-B464-BAD35D92F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A37DBEC-3531-DF35-3691-F76A55FA317A}"/>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F985D40-FC8A-A7DF-D92E-45B58E204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037699A-B6B7-2F28-C61B-4AA95498CA17}"/>
              </a:ext>
            </a:extLst>
          </p:cNvPr>
          <p:cNvPicPr>
            <a:picLocks noChangeAspect="1"/>
          </p:cNvPicPr>
          <p:nvPr/>
        </p:nvPicPr>
        <p:blipFill>
          <a:blip r:embed="rId4"/>
          <a:stretch>
            <a:fillRect/>
          </a:stretch>
        </p:blipFill>
        <p:spPr>
          <a:xfrm>
            <a:off x="596661" y="4407735"/>
            <a:ext cx="4510177" cy="2706106"/>
          </a:xfrm>
          <a:prstGeom prst="rect">
            <a:avLst/>
          </a:prstGeom>
        </p:spPr>
      </p:pic>
    </p:spTree>
    <p:extLst>
      <p:ext uri="{BB962C8B-B14F-4D97-AF65-F5344CB8AC3E}">
        <p14:creationId xmlns:p14="http://schemas.microsoft.com/office/powerpoint/2010/main" val="40906702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E87C9-C27C-BD16-8642-FEDC54518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4A356-518D-8497-610C-4A6AEF01E83B}"/>
              </a:ext>
            </a:extLst>
          </p:cNvPr>
          <p:cNvSpPr>
            <a:spLocks noGrp="1"/>
          </p:cNvSpPr>
          <p:nvPr>
            <p:ph type="title"/>
          </p:nvPr>
        </p:nvSpPr>
        <p:spPr/>
        <p:txBody>
          <a:bodyPr/>
          <a:lstStyle/>
          <a:p>
            <a:r>
              <a:rPr lang="en-GB" dirty="0"/>
              <a:t>Drivetrain</a:t>
            </a:r>
          </a:p>
        </p:txBody>
      </p:sp>
      <p:sp>
        <p:nvSpPr>
          <p:cNvPr id="3" name="Content Placeholder 2">
            <a:extLst>
              <a:ext uri="{FF2B5EF4-FFF2-40B4-BE49-F238E27FC236}">
                <a16:creationId xmlns:a16="http://schemas.microsoft.com/office/drawing/2014/main" id="{2D7C418C-7CFB-5AEA-8208-350BAF7FB1C6}"/>
              </a:ext>
            </a:extLst>
          </p:cNvPr>
          <p:cNvSpPr>
            <a:spLocks noGrp="1"/>
          </p:cNvSpPr>
          <p:nvPr>
            <p:ph idx="1"/>
          </p:nvPr>
        </p:nvSpPr>
        <p:spPr>
          <a:xfrm>
            <a:off x="838200" y="1586661"/>
            <a:ext cx="10515600" cy="2510886"/>
          </a:xfrm>
        </p:spPr>
        <p:txBody>
          <a:bodyPr/>
          <a:lstStyle/>
          <a:p>
            <a:pPr marL="0" indent="0">
              <a:buNone/>
            </a:pPr>
            <a:r>
              <a:rPr lang="en-GB" dirty="0"/>
              <a:t>Improvements: </a:t>
            </a:r>
          </a:p>
        </p:txBody>
      </p:sp>
      <p:pic>
        <p:nvPicPr>
          <p:cNvPr id="4" name="Picture 2" descr="FIRST Tech Challenge - YouTube">
            <a:extLst>
              <a:ext uri="{FF2B5EF4-FFF2-40B4-BE49-F238E27FC236}">
                <a16:creationId xmlns:a16="http://schemas.microsoft.com/office/drawing/2014/main" id="{26788A8A-D422-C2E5-508E-D8F5DE387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BBE106E-C7EA-C954-6DED-5ED15AD67F53}"/>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4BCF21A8-939A-D031-5C1E-29D97C5CC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1434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0360-362D-F321-9B4D-A31C7D8693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BDA38-284C-E2D7-61F3-B0B707418D37}"/>
              </a:ext>
            </a:extLst>
          </p:cNvPr>
          <p:cNvSpPr>
            <a:spLocks noGrp="1"/>
          </p:cNvSpPr>
          <p:nvPr>
            <p:ph type="title"/>
          </p:nvPr>
        </p:nvSpPr>
        <p:spPr/>
        <p:txBody>
          <a:bodyPr/>
          <a:lstStyle/>
          <a:p>
            <a:r>
              <a:rPr lang="en-GB" dirty="0"/>
              <a:t>Artefact launcher</a:t>
            </a:r>
          </a:p>
        </p:txBody>
      </p:sp>
      <p:sp>
        <p:nvSpPr>
          <p:cNvPr id="3" name="Content Placeholder 2">
            <a:extLst>
              <a:ext uri="{FF2B5EF4-FFF2-40B4-BE49-F238E27FC236}">
                <a16:creationId xmlns:a16="http://schemas.microsoft.com/office/drawing/2014/main" id="{C73E8DF3-B666-EA4B-4D30-174D800ED174}"/>
              </a:ext>
            </a:extLst>
          </p:cNvPr>
          <p:cNvSpPr>
            <a:spLocks noGrp="1"/>
          </p:cNvSpPr>
          <p:nvPr>
            <p:ph idx="1"/>
          </p:nvPr>
        </p:nvSpPr>
        <p:spPr>
          <a:xfrm>
            <a:off x="838200" y="1586661"/>
            <a:ext cx="10515600" cy="4351338"/>
          </a:xfrm>
        </p:spPr>
        <p:txBody>
          <a:bodyPr/>
          <a:lstStyle/>
          <a:p>
            <a:pPr marL="0" indent="0">
              <a:buNone/>
            </a:pPr>
            <a:r>
              <a:rPr lang="en-GB" dirty="0"/>
              <a:t>Design and construction team</a:t>
            </a:r>
          </a:p>
          <a:p>
            <a:pPr marL="0" indent="0">
              <a:buNone/>
            </a:pPr>
            <a:endParaRPr lang="en-GB" dirty="0"/>
          </a:p>
          <a:p>
            <a:pPr marL="0" indent="0">
              <a:buNone/>
            </a:pPr>
            <a:r>
              <a:rPr lang="en-GB" dirty="0"/>
              <a:t>Research:</a:t>
            </a:r>
          </a:p>
          <a:p>
            <a:pPr marL="0" indent="0">
              <a:buNone/>
            </a:pPr>
            <a:endParaRPr lang="en-GB" dirty="0"/>
          </a:p>
        </p:txBody>
      </p:sp>
      <p:pic>
        <p:nvPicPr>
          <p:cNvPr id="4" name="Picture 2" descr="FIRST Tech Challenge - YouTube">
            <a:extLst>
              <a:ext uri="{FF2B5EF4-FFF2-40B4-BE49-F238E27FC236}">
                <a16:creationId xmlns:a16="http://schemas.microsoft.com/office/drawing/2014/main" id="{21E35559-79C1-B19B-4366-417D51BF8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2330064-E800-094A-007A-F04D6861506D}"/>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0ECD0E41-CE1E-F153-85A3-6360798D8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142BFB4-580F-3C97-28B0-DD989BA3BF08}"/>
              </a:ext>
            </a:extLst>
          </p:cNvPr>
          <p:cNvPicPr>
            <a:picLocks noChangeAspect="1"/>
          </p:cNvPicPr>
          <p:nvPr/>
        </p:nvPicPr>
        <p:blipFill>
          <a:blip r:embed="rId4"/>
          <a:stretch>
            <a:fillRect/>
          </a:stretch>
        </p:blipFill>
        <p:spPr>
          <a:xfrm>
            <a:off x="1017918" y="3605149"/>
            <a:ext cx="3359836" cy="2698392"/>
          </a:xfrm>
          <a:prstGeom prst="rect">
            <a:avLst/>
          </a:prstGeom>
        </p:spPr>
      </p:pic>
      <p:sp>
        <p:nvSpPr>
          <p:cNvPr id="10" name="TextBox 9">
            <a:extLst>
              <a:ext uri="{FF2B5EF4-FFF2-40B4-BE49-F238E27FC236}">
                <a16:creationId xmlns:a16="http://schemas.microsoft.com/office/drawing/2014/main" id="{5A052BAF-C843-05F0-F9C3-25C452B38BE1}"/>
              </a:ext>
            </a:extLst>
          </p:cNvPr>
          <p:cNvSpPr txBox="1"/>
          <p:nvPr/>
        </p:nvSpPr>
        <p:spPr>
          <a:xfrm>
            <a:off x="838200" y="3281911"/>
            <a:ext cx="6159260" cy="369332"/>
          </a:xfrm>
          <a:prstGeom prst="rect">
            <a:avLst/>
          </a:prstGeom>
          <a:noFill/>
        </p:spPr>
        <p:txBody>
          <a:bodyPr wrap="square">
            <a:spAutoFit/>
          </a:bodyPr>
          <a:lstStyle/>
          <a:p>
            <a:r>
              <a:rPr lang="en-GB" dirty="0"/>
              <a:t>https://www.youtube.com/watch?v=wp4r___y_O4</a:t>
            </a:r>
          </a:p>
        </p:txBody>
      </p:sp>
    </p:spTree>
    <p:extLst>
      <p:ext uri="{BB962C8B-B14F-4D97-AF65-F5344CB8AC3E}">
        <p14:creationId xmlns:p14="http://schemas.microsoft.com/office/powerpoint/2010/main" val="29332635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EC9D-9CC7-6F84-FE3D-E170B6BBF6C3}"/>
              </a:ext>
            </a:extLst>
          </p:cNvPr>
          <p:cNvSpPr>
            <a:spLocks noGrp="1"/>
          </p:cNvSpPr>
          <p:nvPr>
            <p:ph type="title"/>
          </p:nvPr>
        </p:nvSpPr>
        <p:spPr/>
        <p:txBody>
          <a:bodyPr/>
          <a:lstStyle/>
          <a:p>
            <a:r>
              <a:rPr lang="en-GB" dirty="0"/>
              <a:t>Programming</a:t>
            </a:r>
          </a:p>
        </p:txBody>
      </p:sp>
      <p:sp>
        <p:nvSpPr>
          <p:cNvPr id="3" name="Text Placeholder 2">
            <a:extLst>
              <a:ext uri="{FF2B5EF4-FFF2-40B4-BE49-F238E27FC236}">
                <a16:creationId xmlns:a16="http://schemas.microsoft.com/office/drawing/2014/main" id="{E88C17E8-BEFF-C2F1-4DC6-0975CCBF63C7}"/>
              </a:ext>
            </a:extLst>
          </p:cNvPr>
          <p:cNvSpPr>
            <a:spLocks noGrp="1"/>
          </p:cNvSpPr>
          <p:nvPr>
            <p:ph type="body" idx="1"/>
          </p:nvPr>
        </p:nvSpPr>
        <p:spPr/>
        <p:txBody>
          <a:bodyPr/>
          <a:lstStyle/>
          <a:p>
            <a:r>
              <a:rPr lang="en-GB" dirty="0"/>
              <a:t>Alistair Taylor</a:t>
            </a:r>
          </a:p>
        </p:txBody>
      </p:sp>
      <p:pic>
        <p:nvPicPr>
          <p:cNvPr id="4" name="Picture 2" descr="FIRST Tech Challenge - YouTube">
            <a:extLst>
              <a:ext uri="{FF2B5EF4-FFF2-40B4-BE49-F238E27FC236}">
                <a16:creationId xmlns:a16="http://schemas.microsoft.com/office/drawing/2014/main" id="{5219B4EE-76AB-28D3-D694-7D5CF81C5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E39310-4BC8-6E6F-08B7-C298FED124B8}"/>
              </a:ext>
            </a:extLst>
          </p:cNvPr>
          <p:cNvSpPr txBox="1"/>
          <p:nvPr/>
        </p:nvSpPr>
        <p:spPr>
          <a:xfrm>
            <a:off x="8396378" y="5833972"/>
            <a:ext cx="3666226" cy="923330"/>
          </a:xfrm>
          <a:prstGeom prst="rect">
            <a:avLst/>
          </a:prstGeom>
          <a:noFill/>
        </p:spPr>
        <p:txBody>
          <a:bodyPr wrap="square" rtlCol="0">
            <a:spAutoFit/>
          </a:bodyPr>
          <a:lstStyle/>
          <a:p>
            <a:r>
              <a:rPr lang="en-GB" sz="5400" b="1" dirty="0">
                <a:solidFill>
                  <a:schemeClr val="accent2">
                    <a:lumMod val="60000"/>
                    <a:lumOff val="40000"/>
                  </a:schemeClr>
                </a:solidFill>
              </a:rPr>
              <a:t>Team</a:t>
            </a:r>
            <a:r>
              <a:rPr lang="en-GB" sz="5400" b="1" dirty="0"/>
              <a:t> </a:t>
            </a:r>
            <a:r>
              <a:rPr lang="en-GB" sz="5400" b="1" dirty="0">
                <a:solidFill>
                  <a:schemeClr val="accent1">
                    <a:lumMod val="40000"/>
                    <a:lumOff val="60000"/>
                  </a:schemeClr>
                </a:solidFill>
              </a:rPr>
              <a:t>21126</a:t>
            </a:r>
          </a:p>
        </p:txBody>
      </p:sp>
      <p:pic>
        <p:nvPicPr>
          <p:cNvPr id="6" name="Picture 4" descr="2025-2026 DECODE">
            <a:extLst>
              <a:ext uri="{FF2B5EF4-FFF2-40B4-BE49-F238E27FC236}">
                <a16:creationId xmlns:a16="http://schemas.microsoft.com/office/drawing/2014/main" id="{341DE4F7-BE8E-D730-181A-A9185A157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9668" y="100698"/>
            <a:ext cx="1132936" cy="1665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440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EF19E-DC89-E85B-C421-C56610B8EE86}"/>
              </a:ext>
            </a:extLst>
          </p:cNvPr>
          <p:cNvSpPr>
            <a:spLocks noGrp="1"/>
          </p:cNvSpPr>
          <p:nvPr>
            <p:ph type="title"/>
          </p:nvPr>
        </p:nvSpPr>
        <p:spPr>
          <a:xfrm>
            <a:off x="673648" y="195393"/>
            <a:ext cx="2561258" cy="888431"/>
          </a:xfrm>
        </p:spPr>
        <p:txBody>
          <a:bodyPr/>
          <a:lstStyle/>
          <a:p>
            <a:r>
              <a:rPr lang="en-GB" dirty="0"/>
              <a:t>Drive	</a:t>
            </a:r>
          </a:p>
        </p:txBody>
      </p:sp>
      <p:sp>
        <p:nvSpPr>
          <p:cNvPr id="3" name="Content Placeholder 2">
            <a:extLst>
              <a:ext uri="{FF2B5EF4-FFF2-40B4-BE49-F238E27FC236}">
                <a16:creationId xmlns:a16="http://schemas.microsoft.com/office/drawing/2014/main" id="{B94ECA7F-7A0F-7ACF-B78D-199F74BB42F5}"/>
              </a:ext>
            </a:extLst>
          </p:cNvPr>
          <p:cNvSpPr>
            <a:spLocks noGrp="1"/>
          </p:cNvSpPr>
          <p:nvPr>
            <p:ph idx="1"/>
          </p:nvPr>
        </p:nvSpPr>
        <p:spPr>
          <a:xfrm>
            <a:off x="6573830" y="1083824"/>
            <a:ext cx="5119276" cy="4351338"/>
          </a:xfrm>
        </p:spPr>
        <p:txBody>
          <a:bodyPr>
            <a:normAutofit fontScale="92500" lnSpcReduction="20000"/>
          </a:bodyPr>
          <a:lstStyle/>
          <a:p>
            <a:pPr marL="0" indent="0">
              <a:buNone/>
            </a:pPr>
            <a:r>
              <a:rPr lang="en-GB" dirty="0"/>
              <a:t>Our robot is split into two sections: the drive &amp; the launcher section.</a:t>
            </a:r>
          </a:p>
          <a:p>
            <a:pPr marL="0" indent="0">
              <a:buNone/>
            </a:pPr>
            <a:r>
              <a:rPr lang="en-GB" dirty="0"/>
              <a:t>First, the drive section, the code to the left is responsible for the driving of the omni directional robot. This allows the robot to move in all four directions as well as diagonally and pivot on the spot.</a:t>
            </a:r>
          </a:p>
          <a:p>
            <a:pPr marL="0" indent="0">
              <a:buNone/>
            </a:pPr>
            <a:r>
              <a:rPr lang="en-GB" dirty="0"/>
              <a:t>This next screenshot shows the code </a:t>
            </a:r>
            <a:r>
              <a:rPr lang="en-GB" dirty="0" err="1"/>
              <a:t>weuseto</a:t>
            </a:r>
            <a:r>
              <a:rPr lang="en-GB" dirty="0"/>
              <a:t> stop the motors when we are too close to an object.</a:t>
            </a:r>
          </a:p>
          <a:p>
            <a:pPr marL="0" indent="0">
              <a:buNone/>
            </a:pPr>
            <a:r>
              <a:rPr lang="en-GB" dirty="0"/>
              <a:t>Confusingly, the Back Left motor is reversed. </a:t>
            </a:r>
          </a:p>
        </p:txBody>
      </p:sp>
      <p:pic>
        <p:nvPicPr>
          <p:cNvPr id="7" name="Picture 6">
            <a:extLst>
              <a:ext uri="{FF2B5EF4-FFF2-40B4-BE49-F238E27FC236}">
                <a16:creationId xmlns:a16="http://schemas.microsoft.com/office/drawing/2014/main" id="{D3ED6A7F-E9C1-0D23-F956-9027CD2EFDEA}"/>
              </a:ext>
            </a:extLst>
          </p:cNvPr>
          <p:cNvPicPr>
            <a:picLocks noChangeAspect="1"/>
          </p:cNvPicPr>
          <p:nvPr/>
        </p:nvPicPr>
        <p:blipFill>
          <a:blip r:embed="rId2"/>
          <a:stretch>
            <a:fillRect/>
          </a:stretch>
        </p:blipFill>
        <p:spPr>
          <a:xfrm>
            <a:off x="324209" y="1190089"/>
            <a:ext cx="6140710" cy="1928812"/>
          </a:xfrm>
          <a:prstGeom prst="rect">
            <a:avLst/>
          </a:prstGeom>
        </p:spPr>
      </p:pic>
      <p:pic>
        <p:nvPicPr>
          <p:cNvPr id="6" name="Picture 5">
            <a:extLst>
              <a:ext uri="{FF2B5EF4-FFF2-40B4-BE49-F238E27FC236}">
                <a16:creationId xmlns:a16="http://schemas.microsoft.com/office/drawing/2014/main" id="{990644CD-CD61-F0CB-33B8-37EE8B836E1D}"/>
              </a:ext>
            </a:extLst>
          </p:cNvPr>
          <p:cNvPicPr>
            <a:picLocks noChangeAspect="1"/>
          </p:cNvPicPr>
          <p:nvPr/>
        </p:nvPicPr>
        <p:blipFill>
          <a:blip r:embed="rId3"/>
          <a:stretch>
            <a:fillRect/>
          </a:stretch>
        </p:blipFill>
        <p:spPr>
          <a:xfrm>
            <a:off x="498893" y="3118900"/>
            <a:ext cx="4617855" cy="3319083"/>
          </a:xfrm>
          <a:prstGeom prst="rect">
            <a:avLst/>
          </a:prstGeom>
        </p:spPr>
      </p:pic>
    </p:spTree>
    <p:extLst>
      <p:ext uri="{BB962C8B-B14F-4D97-AF65-F5344CB8AC3E}">
        <p14:creationId xmlns:p14="http://schemas.microsoft.com/office/powerpoint/2010/main" val="259037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04541-27E4-BD18-2B6D-8A2D195AE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AF6DB-4F84-50DB-60B6-1C7CD11D58E6}"/>
              </a:ext>
            </a:extLst>
          </p:cNvPr>
          <p:cNvSpPr>
            <a:spLocks noGrp="1"/>
          </p:cNvSpPr>
          <p:nvPr>
            <p:ph type="title"/>
          </p:nvPr>
        </p:nvSpPr>
        <p:spPr>
          <a:xfrm>
            <a:off x="838200" y="362310"/>
            <a:ext cx="3604404" cy="849657"/>
          </a:xfrm>
        </p:spPr>
        <p:txBody>
          <a:bodyPr/>
          <a:lstStyle/>
          <a:p>
            <a:r>
              <a:rPr lang="en-GB" dirty="0"/>
              <a:t>Launcher	</a:t>
            </a:r>
          </a:p>
        </p:txBody>
      </p:sp>
      <p:sp>
        <p:nvSpPr>
          <p:cNvPr id="3" name="Content Placeholder 2">
            <a:extLst>
              <a:ext uri="{FF2B5EF4-FFF2-40B4-BE49-F238E27FC236}">
                <a16:creationId xmlns:a16="http://schemas.microsoft.com/office/drawing/2014/main" id="{A12B3A1E-F306-4319-B38A-A1F8C5498CE0}"/>
              </a:ext>
            </a:extLst>
          </p:cNvPr>
          <p:cNvSpPr>
            <a:spLocks noGrp="1"/>
          </p:cNvSpPr>
          <p:nvPr>
            <p:ph idx="1"/>
          </p:nvPr>
        </p:nvSpPr>
        <p:spPr>
          <a:xfrm>
            <a:off x="7157059" y="1509862"/>
            <a:ext cx="4521200" cy="4351338"/>
          </a:xfrm>
        </p:spPr>
        <p:txBody>
          <a:bodyPr/>
          <a:lstStyle/>
          <a:p>
            <a:pPr marL="0" indent="0">
              <a:buNone/>
            </a:pPr>
            <a:r>
              <a:rPr lang="en-GB" dirty="0"/>
              <a:t>Secondly, the launcher:</a:t>
            </a:r>
          </a:p>
          <a:p>
            <a:pPr marL="0" indent="0">
              <a:buNone/>
            </a:pPr>
            <a:r>
              <a:rPr lang="en-GB" dirty="0"/>
              <a:t>This code is responsible for activating the firing motor when a trigger is pressed and turning it off if not.</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B6B4FC2-B7D3-C269-DE0C-E643FA7C444E}"/>
                  </a:ext>
                </a:extLst>
              </p14:cNvPr>
              <p14:cNvContentPartPr/>
              <p14:nvPr/>
            </p14:nvContentPartPr>
            <p14:xfrm>
              <a:off x="9916560" y="6003820"/>
              <a:ext cx="15120" cy="153360"/>
            </p14:xfrm>
          </p:contentPart>
        </mc:Choice>
        <mc:Fallback xmlns="">
          <p:pic>
            <p:nvPicPr>
              <p:cNvPr id="5" name="Ink 4">
                <a:extLst>
                  <a:ext uri="{FF2B5EF4-FFF2-40B4-BE49-F238E27FC236}">
                    <a16:creationId xmlns:a16="http://schemas.microsoft.com/office/drawing/2014/main" id="{4B6B4FC2-B7D3-C269-DE0C-E643FA7C444E}"/>
                  </a:ext>
                </a:extLst>
              </p:cNvPr>
              <p:cNvPicPr/>
              <p:nvPr/>
            </p:nvPicPr>
            <p:blipFill>
              <a:blip r:embed="rId5"/>
              <a:stretch>
                <a:fillRect/>
              </a:stretch>
            </p:blipFill>
            <p:spPr>
              <a:xfrm>
                <a:off x="9912240" y="5999500"/>
                <a:ext cx="23760" cy="162000"/>
              </a:xfrm>
              <a:prstGeom prst="rect">
                <a:avLst/>
              </a:prstGeom>
            </p:spPr>
          </p:pic>
        </mc:Fallback>
      </mc:AlternateContent>
      <p:pic>
        <p:nvPicPr>
          <p:cNvPr id="8" name="Picture 7">
            <a:extLst>
              <a:ext uri="{FF2B5EF4-FFF2-40B4-BE49-F238E27FC236}">
                <a16:creationId xmlns:a16="http://schemas.microsoft.com/office/drawing/2014/main" id="{573E688A-160B-94A1-7C94-A9C966ECE2E0}"/>
              </a:ext>
            </a:extLst>
          </p:cNvPr>
          <p:cNvPicPr>
            <a:picLocks noChangeAspect="1"/>
          </p:cNvPicPr>
          <p:nvPr/>
        </p:nvPicPr>
        <p:blipFill>
          <a:blip r:embed="rId6"/>
          <a:stretch>
            <a:fillRect/>
          </a:stretch>
        </p:blipFill>
        <p:spPr>
          <a:xfrm>
            <a:off x="678677" y="1509862"/>
            <a:ext cx="6386831" cy="1552515"/>
          </a:xfrm>
          <a:prstGeom prst="rect">
            <a:avLst/>
          </a:prstGeom>
        </p:spPr>
      </p:pic>
    </p:spTree>
    <p:extLst>
      <p:ext uri="{BB962C8B-B14F-4D97-AF65-F5344CB8AC3E}">
        <p14:creationId xmlns:p14="http://schemas.microsoft.com/office/powerpoint/2010/main" val="701527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545</Words>
  <Application>Microsoft Office PowerPoint</Application>
  <PresentationFormat>Widescreen</PresentationFormat>
  <Paragraphs>60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HHS 2025-2026 Robotics Season DECODE</vt:lpstr>
      <vt:lpstr>Meet the team:</vt:lpstr>
      <vt:lpstr>Alistair: Programmer</vt:lpstr>
      <vt:lpstr>Elijah: Design and Construction</vt:lpstr>
      <vt:lpstr>Holmfirth high robotics</vt:lpstr>
      <vt:lpstr>The Robot</vt:lpstr>
      <vt:lpstr>Drivetrain</vt:lpstr>
      <vt:lpstr>Drivetrain</vt:lpstr>
      <vt:lpstr>Artefact launcher</vt:lpstr>
      <vt:lpstr>Programming</vt:lpstr>
      <vt:lpstr>Drive </vt:lpstr>
      <vt:lpstr>Launcher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AN EXCEPTIONAL ENGINEERING NOTEBOOK</dc:title>
  <dc:creator>Administrator</dc:creator>
  <cp:lastModifiedBy>Jonathan Woodhouse</cp:lastModifiedBy>
  <cp:revision>10</cp:revision>
  <dcterms:created xsi:type="dcterms:W3CDTF">2025-12-18T16:57:54Z</dcterms:created>
  <dcterms:modified xsi:type="dcterms:W3CDTF">2026-02-25T16:55:39Z</dcterms:modified>
</cp:coreProperties>
</file>